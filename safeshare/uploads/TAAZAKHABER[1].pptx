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1" r:id="rId6"/>
    <p:sldId id="270" r:id="rId7"/>
    <p:sldId id="263" r:id="rId8"/>
    <p:sldId id="265" r:id="rId9"/>
    <p:sldId id="266" r:id="rId10"/>
    <p:sldId id="267" r:id="rId11"/>
    <p:sldId id="268" r:id="rId12"/>
    <p:sldId id="271" r:id="rId13"/>
    <p:sldId id="272" r:id="rId14"/>
    <p:sldId id="273" r:id="rId15"/>
    <p:sldId id="27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68" d="100"/>
          <a:sy n="68" d="100"/>
        </p:scale>
        <p:origin x="77" y="379"/>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pPr/>
              <a:t>12/26/2024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pPr/>
              <a:t>12/26/2024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12/26/2024</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12/26/2024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6155;p1" descr="Kadi Sarva Vishwavidyalaya | Kar bhala Hoga Bhala">
            <a:extLst>
              <a:ext uri="{FF2B5EF4-FFF2-40B4-BE49-F238E27FC236}">
                <a16:creationId xmlns:a16="http://schemas.microsoft.com/office/drawing/2014/main" id="{ACC664EB-DCC3-D15A-C2BC-E6975BFF02E1}"/>
              </a:ext>
            </a:extLst>
          </p:cNvPr>
          <p:cNvPicPr preferRelativeResize="0"/>
          <p:nvPr/>
        </p:nvPicPr>
        <p:blipFill rotWithShape="1">
          <a:blip r:embed="rId2">
            <a:alphaModFix/>
          </a:blip>
          <a:srcRect/>
          <a:stretch/>
        </p:blipFill>
        <p:spPr>
          <a:xfrm>
            <a:off x="68826" y="77113"/>
            <a:ext cx="1527237" cy="1568513"/>
          </a:xfrm>
          <a:prstGeom prst="rect">
            <a:avLst/>
          </a:prstGeom>
          <a:noFill/>
          <a:ln>
            <a:noFill/>
          </a:ln>
        </p:spPr>
      </p:pic>
      <p:sp>
        <p:nvSpPr>
          <p:cNvPr id="5" name="TextBox 4">
            <a:extLst>
              <a:ext uri="{FF2B5EF4-FFF2-40B4-BE49-F238E27FC236}">
                <a16:creationId xmlns:a16="http://schemas.microsoft.com/office/drawing/2014/main" id="{B252F1DE-E172-2DC1-E2E2-77E21834AE1A}"/>
              </a:ext>
            </a:extLst>
          </p:cNvPr>
          <p:cNvSpPr txBox="1"/>
          <p:nvPr/>
        </p:nvSpPr>
        <p:spPr>
          <a:xfrm>
            <a:off x="1818969" y="442875"/>
            <a:ext cx="11169444" cy="584775"/>
          </a:xfrm>
          <a:prstGeom prst="rect">
            <a:avLst/>
          </a:prstGeom>
          <a:noFill/>
        </p:spPr>
        <p:txBody>
          <a:bodyPr wrap="square" rtlCol="0">
            <a:spAutoFit/>
          </a:bodyPr>
          <a:lstStyle/>
          <a:p>
            <a:r>
              <a:rPr lang="en-US" sz="3200" b="1" dirty="0">
                <a:latin typeface="Arial" panose="020B0604020202020204" pitchFamily="34" charset="0"/>
                <a:cs typeface="Arial" panose="020B0604020202020204" pitchFamily="34" charset="0"/>
              </a:rPr>
              <a:t>S.K PATEL INSTITUTE OF COMPUTER STUDE</a:t>
            </a:r>
          </a:p>
        </p:txBody>
      </p:sp>
      <p:sp>
        <p:nvSpPr>
          <p:cNvPr id="6" name="Google Shape;6154;p1">
            <a:extLst>
              <a:ext uri="{FF2B5EF4-FFF2-40B4-BE49-F238E27FC236}">
                <a16:creationId xmlns:a16="http://schemas.microsoft.com/office/drawing/2014/main" id="{663C7CE8-7D91-2F2D-EC43-957C477D8B94}"/>
              </a:ext>
            </a:extLst>
          </p:cNvPr>
          <p:cNvSpPr txBox="1"/>
          <p:nvPr/>
        </p:nvSpPr>
        <p:spPr>
          <a:xfrm>
            <a:off x="1019801" y="861369"/>
            <a:ext cx="9144000" cy="17652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ct val="100000"/>
              <a:buFont typeface="Arial"/>
              <a:buNone/>
            </a:pPr>
            <a:endParaRPr sz="2400" b="0" i="0" u="none" strike="noStrike" cap="none" dirty="0">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ct val="100000"/>
              <a:buFont typeface="Arial"/>
              <a:buNone/>
            </a:pPr>
            <a:r>
              <a:rPr lang="en-US" sz="2600" b="1" dirty="0">
                <a:solidFill>
                  <a:schemeClr val="dk1"/>
                </a:solidFill>
                <a:latin typeface="Calibri"/>
                <a:ea typeface="Calibri"/>
                <a:cs typeface="Calibri"/>
                <a:sym typeface="Calibri"/>
              </a:rPr>
              <a:t>  </a:t>
            </a:r>
            <a:r>
              <a:rPr lang="en-US" sz="2000" b="1" dirty="0">
                <a:solidFill>
                  <a:schemeClr val="dk1"/>
                </a:solidFill>
                <a:latin typeface="Calibri"/>
                <a:ea typeface="Calibri"/>
                <a:cs typeface="Calibri"/>
                <a:sym typeface="Calibri"/>
              </a:rPr>
              <a:t>M</a:t>
            </a:r>
            <a:r>
              <a:rPr lang="en-US" sz="2000" b="1" i="0" u="none" strike="noStrike" cap="none" dirty="0">
                <a:solidFill>
                  <a:schemeClr val="dk1"/>
                </a:solidFill>
                <a:latin typeface="Calibri"/>
                <a:ea typeface="Calibri"/>
                <a:cs typeface="Calibri"/>
                <a:sym typeface="Calibri"/>
              </a:rPr>
              <a:t>CA SEMESTER – I</a:t>
            </a:r>
            <a:endParaRPr sz="2000" dirty="0"/>
          </a:p>
          <a:p>
            <a:pPr marL="0" marR="0" lvl="0" indent="0" algn="ctr" rtl="0">
              <a:lnSpc>
                <a:spcPct val="90000"/>
              </a:lnSpc>
              <a:spcBef>
                <a:spcPts val="1000"/>
              </a:spcBef>
              <a:spcAft>
                <a:spcPts val="0"/>
              </a:spcAft>
              <a:buClr>
                <a:schemeClr val="dk1"/>
              </a:buClr>
              <a:buSzPct val="100000"/>
              <a:buFont typeface="Arial"/>
              <a:buNone/>
            </a:pPr>
            <a:r>
              <a:rPr lang="en-US" sz="2000" b="1" dirty="0">
                <a:solidFill>
                  <a:schemeClr val="dk1"/>
                </a:solidFill>
                <a:latin typeface="Calibri"/>
                <a:ea typeface="Calibri"/>
                <a:cs typeface="Calibri"/>
                <a:sym typeface="Calibri"/>
              </a:rPr>
              <a:t>M</a:t>
            </a:r>
            <a:r>
              <a:rPr lang="en-US" sz="2000" b="1" i="0" u="none" strike="noStrike" cap="none" dirty="0">
                <a:solidFill>
                  <a:schemeClr val="dk1"/>
                </a:solidFill>
                <a:latin typeface="Calibri"/>
                <a:ea typeface="Calibri"/>
                <a:cs typeface="Calibri"/>
                <a:sym typeface="Calibri"/>
              </a:rPr>
              <a:t>CA – </a:t>
            </a:r>
            <a:r>
              <a:rPr lang="en-US" sz="2000" b="1" dirty="0">
                <a:solidFill>
                  <a:schemeClr val="dk1"/>
                </a:solidFill>
                <a:latin typeface="Calibri"/>
                <a:ea typeface="Calibri"/>
                <a:cs typeface="Calibri"/>
                <a:sym typeface="Calibri"/>
              </a:rPr>
              <a:t>16</a:t>
            </a:r>
            <a:r>
              <a:rPr lang="en-US" sz="2000" b="1" i="0" u="none" strike="noStrike" cap="none" dirty="0">
                <a:solidFill>
                  <a:schemeClr val="dk1"/>
                </a:solidFill>
                <a:latin typeface="Calibri"/>
                <a:ea typeface="Calibri"/>
                <a:cs typeface="Calibri"/>
                <a:sym typeface="Calibri"/>
              </a:rPr>
              <a:t> </a:t>
            </a:r>
            <a:endParaRPr sz="2000" b="0" i="0" u="none" strike="noStrike" cap="none" dirty="0">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chemeClr val="dk1"/>
              </a:buClr>
              <a:buSzPct val="100000"/>
              <a:buFont typeface="Arial"/>
              <a:buNone/>
            </a:pPr>
            <a:r>
              <a:rPr lang="en-US" sz="2000" b="1" i="0" u="none" strike="noStrike" cap="none" dirty="0">
                <a:solidFill>
                  <a:schemeClr val="dk1"/>
                </a:solidFill>
                <a:latin typeface="Calibri"/>
                <a:ea typeface="Calibri"/>
                <a:cs typeface="Calibri"/>
                <a:sym typeface="Calibri"/>
              </a:rPr>
              <a:t>MINI PROJECT</a:t>
            </a:r>
            <a:endParaRPr sz="2000" b="1" i="0" u="none" strike="noStrike" cap="none" dirty="0">
              <a:solidFill>
                <a:schemeClr val="dk1"/>
              </a:solidFill>
              <a:latin typeface="Calibri"/>
              <a:ea typeface="Calibri"/>
              <a:cs typeface="Calibri"/>
              <a:sym typeface="Calibri"/>
            </a:endParaRPr>
          </a:p>
        </p:txBody>
      </p:sp>
      <p:sp>
        <p:nvSpPr>
          <p:cNvPr id="7" name="Google Shape;6159;p1">
            <a:extLst>
              <a:ext uri="{FF2B5EF4-FFF2-40B4-BE49-F238E27FC236}">
                <a16:creationId xmlns:a16="http://schemas.microsoft.com/office/drawing/2014/main" id="{53A2F5EF-F5DA-083E-3EBE-DE1487A74C22}"/>
              </a:ext>
            </a:extLst>
          </p:cNvPr>
          <p:cNvSpPr/>
          <p:nvPr/>
        </p:nvSpPr>
        <p:spPr>
          <a:xfrm>
            <a:off x="3954101" y="2844963"/>
            <a:ext cx="3275400" cy="400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b="1" i="0" u="sng" strike="noStrike" cap="none" dirty="0">
                <a:solidFill>
                  <a:schemeClr val="dk1"/>
                </a:solidFill>
                <a:latin typeface="Calibri"/>
                <a:ea typeface="Calibri"/>
                <a:cs typeface="Calibri"/>
                <a:sym typeface="Calibri"/>
              </a:rPr>
              <a:t>TAAZA KHABER</a:t>
            </a:r>
            <a:endParaRPr sz="2800" b="1" i="0" u="sng" strike="noStrike" cap="none" dirty="0">
              <a:solidFill>
                <a:schemeClr val="dk1"/>
              </a:solidFill>
              <a:latin typeface="Calibri"/>
              <a:ea typeface="Calibri"/>
              <a:cs typeface="Calibri"/>
              <a:sym typeface="Calibri"/>
            </a:endParaRPr>
          </a:p>
        </p:txBody>
      </p:sp>
      <p:graphicFrame>
        <p:nvGraphicFramePr>
          <p:cNvPr id="8" name="Google Shape;6158;p1">
            <a:extLst>
              <a:ext uri="{FF2B5EF4-FFF2-40B4-BE49-F238E27FC236}">
                <a16:creationId xmlns:a16="http://schemas.microsoft.com/office/drawing/2014/main" id="{63EDA65B-F424-A5A6-BF88-4650CC69AB21}"/>
              </a:ext>
            </a:extLst>
          </p:cNvPr>
          <p:cNvGraphicFramePr/>
          <p:nvPr>
            <p:extLst>
              <p:ext uri="{D42A27DB-BD31-4B8C-83A1-F6EECF244321}">
                <p14:modId xmlns:p14="http://schemas.microsoft.com/office/powerpoint/2010/main" val="3808414202"/>
              </p:ext>
            </p:extLst>
          </p:nvPr>
        </p:nvGraphicFramePr>
        <p:xfrm>
          <a:off x="1322100" y="3763018"/>
          <a:ext cx="9336067" cy="1789123"/>
        </p:xfrm>
        <a:graphic>
          <a:graphicData uri="http://schemas.openxmlformats.org/drawingml/2006/table">
            <a:tbl>
              <a:tblPr firstRow="1" bandRow="1">
                <a:tableStyleId>{284E427A-3D55-4303-BF80-6455036E1DE7}</a:tableStyleId>
              </a:tblPr>
              <a:tblGrid>
                <a:gridCol w="2450676">
                  <a:extLst>
                    <a:ext uri="{9D8B030D-6E8A-4147-A177-3AD203B41FA5}">
                      <a16:colId xmlns:a16="http://schemas.microsoft.com/office/drawing/2014/main" val="20000"/>
                    </a:ext>
                  </a:extLst>
                </a:gridCol>
                <a:gridCol w="3558620">
                  <a:extLst>
                    <a:ext uri="{9D8B030D-6E8A-4147-A177-3AD203B41FA5}">
                      <a16:colId xmlns:a16="http://schemas.microsoft.com/office/drawing/2014/main" val="20001"/>
                    </a:ext>
                  </a:extLst>
                </a:gridCol>
                <a:gridCol w="3326771">
                  <a:extLst>
                    <a:ext uri="{9D8B030D-6E8A-4147-A177-3AD203B41FA5}">
                      <a16:colId xmlns:a16="http://schemas.microsoft.com/office/drawing/2014/main" val="20002"/>
                    </a:ext>
                  </a:extLst>
                </a:gridCol>
              </a:tblGrid>
              <a:tr h="847481">
                <a:tc>
                  <a:txBody>
                    <a:bodyPr/>
                    <a:lstStyle/>
                    <a:p>
                      <a:pPr marL="0" marR="0" lvl="0" indent="0" algn="ctr" rtl="0">
                        <a:lnSpc>
                          <a:spcPct val="100000"/>
                        </a:lnSpc>
                        <a:spcBef>
                          <a:spcPts val="0"/>
                        </a:spcBef>
                        <a:spcAft>
                          <a:spcPts val="0"/>
                        </a:spcAft>
                        <a:buNone/>
                        <a:defRPr sz="1400" u="none" strike="noStrike" cap="none"/>
                      </a:pPr>
                      <a:r>
                        <a:rPr lang="en-US" sz="2000" u="none" strike="noStrike" cap="none" dirty="0"/>
                        <a:t>STUDENT  NAME</a:t>
                      </a:r>
                      <a:endParaRPr sz="2000" dirty="0"/>
                    </a:p>
                  </a:txBody>
                  <a:tcPr marL="91450" marR="91450" marT="45725" marB="45725"/>
                </a:tc>
                <a:tc>
                  <a:txBody>
                    <a:bodyPr/>
                    <a:lstStyle/>
                    <a:p>
                      <a:pPr marL="0" marR="0" lvl="0" indent="0" algn="ctr" rtl="0">
                        <a:lnSpc>
                          <a:spcPct val="100000"/>
                        </a:lnSpc>
                        <a:spcBef>
                          <a:spcPts val="0"/>
                        </a:spcBef>
                        <a:spcAft>
                          <a:spcPts val="0"/>
                        </a:spcAft>
                        <a:buNone/>
                        <a:defRPr sz="1400" u="none" strike="noStrike" cap="none"/>
                      </a:pPr>
                      <a:r>
                        <a:rPr lang="en-US" sz="2000" dirty="0"/>
                        <a:t>ROLL NUMBER</a:t>
                      </a:r>
                      <a:endParaRPr sz="2000" dirty="0"/>
                    </a:p>
                  </a:txBody>
                  <a:tcPr marL="91450" marR="91450" marT="45725" marB="45725"/>
                </a:tc>
                <a:tc>
                  <a:txBody>
                    <a:bodyPr/>
                    <a:lstStyle/>
                    <a:p>
                      <a:pPr marL="0" marR="0" lvl="0" indent="0" algn="ctr" rtl="0">
                        <a:lnSpc>
                          <a:spcPct val="100000"/>
                        </a:lnSpc>
                        <a:spcBef>
                          <a:spcPts val="0"/>
                        </a:spcBef>
                        <a:spcAft>
                          <a:spcPts val="0"/>
                        </a:spcAft>
                        <a:buNone/>
                        <a:defRPr sz="1400" u="none" strike="noStrike" cap="none"/>
                      </a:pPr>
                      <a:r>
                        <a:rPr lang="en-US" sz="2000" dirty="0"/>
                        <a:t>ENROLLMENT NUMBER</a:t>
                      </a:r>
                      <a:endParaRPr sz="2000" dirty="0"/>
                    </a:p>
                  </a:txBody>
                  <a:tcPr marL="91450" marR="91450" marT="45725" marB="45725"/>
                </a:tc>
                <a:extLst>
                  <a:ext uri="{0D108BD9-81ED-4DB2-BD59-A6C34878D82A}">
                    <a16:rowId xmlns:a16="http://schemas.microsoft.com/office/drawing/2014/main" val="10000"/>
                  </a:ext>
                </a:extLst>
              </a:tr>
              <a:tr h="470821">
                <a:tc>
                  <a:txBody>
                    <a:bodyPr/>
                    <a:lstStyle/>
                    <a:p>
                      <a:pPr marL="0" marR="0" lvl="0" indent="0" algn="ctr" rtl="0">
                        <a:lnSpc>
                          <a:spcPct val="100000"/>
                        </a:lnSpc>
                        <a:spcBef>
                          <a:spcPts val="0"/>
                        </a:spcBef>
                        <a:spcAft>
                          <a:spcPts val="0"/>
                        </a:spcAft>
                        <a:buClr>
                          <a:schemeClr val="dk1"/>
                        </a:buClr>
                        <a:buSzPts val="1800"/>
                        <a:buFont typeface="Calibri"/>
                        <a:buNone/>
                        <a:defRPr sz="1400" u="none" strike="noStrike" cap="none"/>
                      </a:pPr>
                      <a:r>
                        <a:rPr lang="en-US" sz="1800" u="none" strike="noStrike" cap="none" dirty="0"/>
                        <a:t>RANAVAYA HARSHAL</a:t>
                      </a:r>
                      <a:endParaRPr sz="1800" u="none" strike="noStrike" cap="none" dirty="0"/>
                    </a:p>
                  </a:txBody>
                  <a:tcPr marL="91450" marR="91450" marT="45725" marB="45725"/>
                </a:tc>
                <a:tc>
                  <a:txBody>
                    <a:bodyPr/>
                    <a:lstStyle/>
                    <a:p>
                      <a:pPr marL="0" marR="0" lvl="0" indent="0" algn="ctr" rtl="0">
                        <a:lnSpc>
                          <a:spcPct val="100000"/>
                        </a:lnSpc>
                        <a:spcBef>
                          <a:spcPts val="0"/>
                        </a:spcBef>
                        <a:spcAft>
                          <a:spcPts val="0"/>
                        </a:spcAft>
                        <a:buNone/>
                        <a:defRPr sz="1400" u="none" strike="noStrike" cap="none"/>
                      </a:pPr>
                      <a:r>
                        <a:rPr lang="en-US" sz="2400" dirty="0"/>
                        <a:t>53</a:t>
                      </a:r>
                      <a:endParaRPr sz="2400" dirty="0"/>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defRPr sz="1400" u="none" strike="noStrike" cap="none"/>
                      </a:pPr>
                      <a:r>
                        <a:rPr lang="en-US" sz="2400" dirty="0"/>
                        <a:t>24MCA02105</a:t>
                      </a:r>
                      <a:endParaRPr sz="2400" dirty="0"/>
                    </a:p>
                  </a:txBody>
                  <a:tcPr marL="91450" marR="91450" marT="45725" marB="45725"/>
                </a:tc>
                <a:extLst>
                  <a:ext uri="{0D108BD9-81ED-4DB2-BD59-A6C34878D82A}">
                    <a16:rowId xmlns:a16="http://schemas.microsoft.com/office/drawing/2014/main" val="10001"/>
                  </a:ext>
                </a:extLst>
              </a:tr>
              <a:tr h="470821">
                <a:tc>
                  <a:txBody>
                    <a:bodyPr/>
                    <a:lstStyle/>
                    <a:p>
                      <a:pPr marL="0" marR="0" lvl="0" indent="0" algn="ctr" rtl="0">
                        <a:lnSpc>
                          <a:spcPct val="100000"/>
                        </a:lnSpc>
                        <a:spcBef>
                          <a:spcPts val="0"/>
                        </a:spcBef>
                        <a:spcAft>
                          <a:spcPts val="0"/>
                        </a:spcAft>
                        <a:buClr>
                          <a:schemeClr val="dk1"/>
                        </a:buClr>
                        <a:buSzPts val="1800"/>
                        <a:buFont typeface="Calibri"/>
                        <a:buNone/>
                        <a:defRPr sz="1400" u="none" strike="noStrike" cap="none"/>
                      </a:pPr>
                      <a:r>
                        <a:rPr lang="en-US" sz="1800" u="none" strike="noStrike" cap="none" dirty="0"/>
                        <a:t>PATEL HIMANSHU</a:t>
                      </a:r>
                      <a:endParaRPr sz="1800" u="none" strike="noStrike" cap="none" dirty="0"/>
                    </a:p>
                  </a:txBody>
                  <a:tcPr marL="91450" marR="91450" marT="45725" marB="45725"/>
                </a:tc>
                <a:tc>
                  <a:txBody>
                    <a:bodyPr/>
                    <a:lstStyle/>
                    <a:p>
                      <a:pPr marL="0" marR="0" lvl="0" indent="0" algn="ctr" rtl="0">
                        <a:lnSpc>
                          <a:spcPct val="100000"/>
                        </a:lnSpc>
                        <a:spcBef>
                          <a:spcPts val="0"/>
                        </a:spcBef>
                        <a:spcAft>
                          <a:spcPts val="0"/>
                        </a:spcAft>
                        <a:buNone/>
                        <a:defRPr sz="1400" u="none" strike="noStrike" cap="none"/>
                      </a:pPr>
                      <a:r>
                        <a:rPr lang="en-US" sz="2400" dirty="0"/>
                        <a:t>39</a:t>
                      </a:r>
                      <a:endParaRPr sz="2400" dirty="0"/>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defRPr sz="1400" u="none" strike="noStrike" cap="none"/>
                      </a:pPr>
                      <a:r>
                        <a:rPr lang="en-US" sz="2400" dirty="0"/>
                        <a:t>24MCA02076</a:t>
                      </a:r>
                      <a:endParaRPr sz="2400" dirty="0"/>
                    </a:p>
                  </a:txBody>
                  <a:tcPr marL="91450" marR="91450" marT="45725" marB="45725"/>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42863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C0E9F-2771-C19A-02AE-8AF7E880364B}"/>
              </a:ext>
            </a:extLst>
          </p:cNvPr>
          <p:cNvSpPr>
            <a:spLocks noGrp="1"/>
          </p:cNvSpPr>
          <p:nvPr>
            <p:ph type="title"/>
          </p:nvPr>
        </p:nvSpPr>
        <p:spPr/>
        <p:txBody>
          <a:bodyPr/>
          <a:lstStyle/>
          <a:p>
            <a:r>
              <a:rPr lang="en-US" u="sng" dirty="0">
                <a:solidFill>
                  <a:schemeClr val="tx1"/>
                </a:solidFill>
              </a:rPr>
              <a:t>INTRODUCTION</a:t>
            </a:r>
          </a:p>
        </p:txBody>
      </p:sp>
      <p:sp>
        <p:nvSpPr>
          <p:cNvPr id="3" name="Content Placeholder 2">
            <a:extLst>
              <a:ext uri="{FF2B5EF4-FFF2-40B4-BE49-F238E27FC236}">
                <a16:creationId xmlns:a16="http://schemas.microsoft.com/office/drawing/2014/main" id="{2DCFD335-9FD0-3BB4-67FA-04038EEE58D2}"/>
              </a:ext>
            </a:extLst>
          </p:cNvPr>
          <p:cNvSpPr>
            <a:spLocks noGrp="1"/>
          </p:cNvSpPr>
          <p:nvPr>
            <p:ph idx="1"/>
          </p:nvPr>
        </p:nvSpPr>
        <p:spPr>
          <a:xfrm>
            <a:off x="677333" y="2113935"/>
            <a:ext cx="9322073" cy="3357156"/>
          </a:xfrm>
        </p:spPr>
        <p:txBody>
          <a:bodyPr>
            <a:normAutofit/>
          </a:bodyPr>
          <a:lstStyle/>
          <a:p>
            <a:r>
              <a:rPr lang="en-US" sz="2000" dirty="0"/>
              <a:t>An </a:t>
            </a:r>
            <a:r>
              <a:rPr lang="en-US" sz="2000" b="1" dirty="0"/>
              <a:t>TAAZA KHABER News System</a:t>
            </a:r>
            <a:r>
              <a:rPr lang="en-US" sz="2000" dirty="0"/>
              <a:t> refers to a platform or service that delivers news, articles, updates, and other information via the API and internet. This system allows users to access the latest news across various topics, including politics, entertainment, sports, technology, and more, in real-time, at their convenience. It has replaced traditional newspaper and broadcast media to a large extent, providing more interactivity, personalization, and timely delivery.</a:t>
            </a:r>
          </a:p>
        </p:txBody>
      </p:sp>
    </p:spTree>
    <p:extLst>
      <p:ext uri="{BB962C8B-B14F-4D97-AF65-F5344CB8AC3E}">
        <p14:creationId xmlns:p14="http://schemas.microsoft.com/office/powerpoint/2010/main" val="3918497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18FE93-3BD7-1D47-316A-4EE21B13DAB6}"/>
              </a:ext>
            </a:extLst>
          </p:cNvPr>
          <p:cNvSpPr txBox="1"/>
          <p:nvPr/>
        </p:nvSpPr>
        <p:spPr>
          <a:xfrm>
            <a:off x="0" y="191729"/>
            <a:ext cx="3883742" cy="400110"/>
          </a:xfrm>
          <a:prstGeom prst="rect">
            <a:avLst/>
          </a:prstGeom>
          <a:noFill/>
        </p:spPr>
        <p:txBody>
          <a:bodyPr wrap="square" rtlCol="0">
            <a:spAutoFit/>
          </a:bodyPr>
          <a:lstStyle/>
          <a:p>
            <a:pPr marL="285750" indent="-285750">
              <a:buFont typeface="Wingdings" panose="05000000000000000000" pitchFamily="2" charset="2"/>
              <a:buChar char="q"/>
            </a:pPr>
            <a:r>
              <a:rPr lang="en-US" sz="2000" b="1" dirty="0"/>
              <a:t>FLOWCHART :</a:t>
            </a:r>
          </a:p>
        </p:txBody>
      </p:sp>
      <p:pic>
        <p:nvPicPr>
          <p:cNvPr id="16" name="Picture 15">
            <a:extLst>
              <a:ext uri="{FF2B5EF4-FFF2-40B4-BE49-F238E27FC236}">
                <a16:creationId xmlns:a16="http://schemas.microsoft.com/office/drawing/2014/main" id="{703D35E1-366F-130F-D4BD-EA970DAFFB4A}"/>
              </a:ext>
            </a:extLst>
          </p:cNvPr>
          <p:cNvPicPr>
            <a:picLocks noChangeAspect="1"/>
          </p:cNvPicPr>
          <p:nvPr/>
        </p:nvPicPr>
        <p:blipFill>
          <a:blip r:embed="rId2"/>
          <a:stretch>
            <a:fillRect/>
          </a:stretch>
        </p:blipFill>
        <p:spPr>
          <a:xfrm>
            <a:off x="1856792" y="121749"/>
            <a:ext cx="7959012" cy="6469877"/>
          </a:xfrm>
          <a:prstGeom prst="rect">
            <a:avLst/>
          </a:prstGeom>
        </p:spPr>
      </p:pic>
    </p:spTree>
    <p:extLst>
      <p:ext uri="{BB962C8B-B14F-4D97-AF65-F5344CB8AC3E}">
        <p14:creationId xmlns:p14="http://schemas.microsoft.com/office/powerpoint/2010/main" val="1964789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EC66A-7226-25B8-C5BD-8C89A82B91C4}"/>
              </a:ext>
            </a:extLst>
          </p:cNvPr>
          <p:cNvSpPr>
            <a:spLocks noGrp="1"/>
          </p:cNvSpPr>
          <p:nvPr>
            <p:ph type="title"/>
          </p:nvPr>
        </p:nvSpPr>
        <p:spPr/>
        <p:txBody>
          <a:bodyPr/>
          <a:lstStyle/>
          <a:p>
            <a:r>
              <a:rPr lang="en-US" dirty="0">
                <a:solidFill>
                  <a:schemeClr val="tx1"/>
                </a:solidFill>
              </a:rPr>
              <a:t>DRAWBACKS:</a:t>
            </a:r>
          </a:p>
        </p:txBody>
      </p:sp>
      <p:graphicFrame>
        <p:nvGraphicFramePr>
          <p:cNvPr id="4" name="Content Placeholder 3">
            <a:extLst>
              <a:ext uri="{FF2B5EF4-FFF2-40B4-BE49-F238E27FC236}">
                <a16:creationId xmlns:a16="http://schemas.microsoft.com/office/drawing/2014/main" id="{76B59781-B2CA-0278-39F8-BBAF4D9780C0}"/>
              </a:ext>
            </a:extLst>
          </p:cNvPr>
          <p:cNvGraphicFramePr>
            <a:graphicFrameLocks noGrp="1"/>
          </p:cNvGraphicFramePr>
          <p:nvPr>
            <p:ph idx="1"/>
            <p:extLst>
              <p:ext uri="{D42A27DB-BD31-4B8C-83A1-F6EECF244321}">
                <p14:modId xmlns:p14="http://schemas.microsoft.com/office/powerpoint/2010/main" val="2543841304"/>
              </p:ext>
            </p:extLst>
          </p:nvPr>
        </p:nvGraphicFramePr>
        <p:xfrm>
          <a:off x="626880" y="1362270"/>
          <a:ext cx="9156601" cy="3909193"/>
        </p:xfrm>
        <a:graphic>
          <a:graphicData uri="http://schemas.openxmlformats.org/drawingml/2006/table">
            <a:tbl>
              <a:tblPr firstRow="1" bandRow="1">
                <a:tableStyleId>{9DCAF9ED-07DC-4A11-8D7F-57B35C25682E}</a:tableStyleId>
              </a:tblPr>
              <a:tblGrid>
                <a:gridCol w="1426403">
                  <a:extLst>
                    <a:ext uri="{9D8B030D-6E8A-4147-A177-3AD203B41FA5}">
                      <a16:colId xmlns:a16="http://schemas.microsoft.com/office/drawing/2014/main" val="3852884071"/>
                    </a:ext>
                  </a:extLst>
                </a:gridCol>
                <a:gridCol w="3865099">
                  <a:extLst>
                    <a:ext uri="{9D8B030D-6E8A-4147-A177-3AD203B41FA5}">
                      <a16:colId xmlns:a16="http://schemas.microsoft.com/office/drawing/2014/main" val="264574658"/>
                    </a:ext>
                  </a:extLst>
                </a:gridCol>
                <a:gridCol w="3865099">
                  <a:extLst>
                    <a:ext uri="{9D8B030D-6E8A-4147-A177-3AD203B41FA5}">
                      <a16:colId xmlns:a16="http://schemas.microsoft.com/office/drawing/2014/main" val="1067755773"/>
                    </a:ext>
                  </a:extLst>
                </a:gridCol>
              </a:tblGrid>
              <a:tr h="392505">
                <a:tc>
                  <a:txBody>
                    <a:bodyPr/>
                    <a:lstStyle/>
                    <a:p>
                      <a:r>
                        <a:rPr lang="en-US" dirty="0"/>
                        <a:t>aspect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t>Aaj</a:t>
                      </a:r>
                      <a:r>
                        <a:rPr lang="en-US" dirty="0"/>
                        <a:t> </a:t>
                      </a:r>
                      <a:r>
                        <a:rPr lang="en-US" dirty="0" err="1"/>
                        <a:t>tak</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India today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73226787"/>
                  </a:ext>
                </a:extLst>
              </a:tr>
              <a:tr h="647811">
                <a:tc>
                  <a:txBody>
                    <a:bodyPr/>
                    <a:lstStyle/>
                    <a:p>
                      <a:r>
                        <a:rPr lang="en-US" dirty="0"/>
                        <a:t>Regional focus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 Overlay focused on India news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❌Primarily Indian centric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4248925"/>
                  </a:ext>
                </a:extLst>
              </a:tr>
              <a:tr h="647811">
                <a:tc>
                  <a:txBody>
                    <a:bodyPr/>
                    <a:lstStyle/>
                    <a:p>
                      <a:r>
                        <a:rPr lang="en-US" dirty="0"/>
                        <a:t>Global coverage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❌Minimal global news coverage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❌Limited global focus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8157353"/>
                  </a:ext>
                </a:extLst>
              </a:tr>
              <a:tr h="925444">
                <a:tc>
                  <a:txBody>
                    <a:bodyPr/>
                    <a:lstStyle/>
                    <a:p>
                      <a:r>
                        <a:rPr lang="en-US" dirty="0"/>
                        <a:t>Multi-language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❌Limited to Indian language only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❌Only support English and </a:t>
                      </a:r>
                      <a:r>
                        <a:rPr lang="en-US" dirty="0" err="1"/>
                        <a:t>hindi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5569305"/>
                  </a:ext>
                </a:extLst>
              </a:tr>
              <a:tr h="647811">
                <a:tc>
                  <a:txBody>
                    <a:bodyPr/>
                    <a:lstStyle/>
                    <a:p>
                      <a:r>
                        <a:rPr lang="en-US" dirty="0"/>
                        <a:t>Ui/</a:t>
                      </a:r>
                      <a:r>
                        <a:rPr lang="en-US" dirty="0" err="1"/>
                        <a:t>Ux</a:t>
                      </a:r>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❌Feels cluttered and ad-heavy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❌Slightly ad-heavy, can feel over whelming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76406266"/>
                  </a:ext>
                </a:extLst>
              </a:tr>
              <a:tr h="647811">
                <a:tc>
                  <a:txBody>
                    <a:bodyPr/>
                    <a:lstStyle/>
                    <a:p>
                      <a:r>
                        <a:rPr lang="en-US" dirty="0"/>
                        <a:t>Offline support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❌Doesn’t support offline read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❌Limited to premium app features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32495718"/>
                  </a:ext>
                </a:extLst>
              </a:tr>
            </a:tbl>
          </a:graphicData>
        </a:graphic>
      </p:graphicFrame>
    </p:spTree>
    <p:extLst>
      <p:ext uri="{BB962C8B-B14F-4D97-AF65-F5344CB8AC3E}">
        <p14:creationId xmlns:p14="http://schemas.microsoft.com/office/powerpoint/2010/main" val="221621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04ABB-9534-3501-6DFA-CB8B01228F39}"/>
              </a:ext>
            </a:extLst>
          </p:cNvPr>
          <p:cNvSpPr>
            <a:spLocks noGrp="1"/>
          </p:cNvSpPr>
          <p:nvPr>
            <p:ph type="title"/>
          </p:nvPr>
        </p:nvSpPr>
        <p:spPr>
          <a:xfrm>
            <a:off x="677334" y="609600"/>
            <a:ext cx="8596668" cy="1135224"/>
          </a:xfrm>
        </p:spPr>
        <p:txBody>
          <a:bodyPr>
            <a:normAutofit/>
          </a:bodyPr>
          <a:lstStyle/>
          <a:p>
            <a:pPr marL="457200" indent="-457200">
              <a:buFont typeface="Wingdings" panose="05000000000000000000" pitchFamily="2" charset="2"/>
              <a:buChar char="q"/>
            </a:pPr>
            <a:r>
              <a:rPr lang="en-US" sz="2800" b="1" dirty="0">
                <a:solidFill>
                  <a:schemeClr val="tx1"/>
                </a:solidFill>
              </a:rPr>
              <a:t>ANALYSIS</a:t>
            </a:r>
            <a:br>
              <a:rPr lang="en-US" sz="2800" b="1" dirty="0">
                <a:solidFill>
                  <a:schemeClr val="tx1"/>
                </a:solidFill>
              </a:rPr>
            </a:br>
            <a:r>
              <a:rPr lang="en-US" sz="2800" b="1" dirty="0">
                <a:solidFill>
                  <a:schemeClr val="tx1"/>
                </a:solidFill>
              </a:rPr>
              <a:t>FACT FINDING METHOD</a:t>
            </a:r>
          </a:p>
        </p:txBody>
      </p:sp>
      <p:graphicFrame>
        <p:nvGraphicFramePr>
          <p:cNvPr id="4" name="Content Placeholder 3">
            <a:extLst>
              <a:ext uri="{FF2B5EF4-FFF2-40B4-BE49-F238E27FC236}">
                <a16:creationId xmlns:a16="http://schemas.microsoft.com/office/drawing/2014/main" id="{F6BC8AF2-3888-A508-76E6-B9CEE37C9E34}"/>
              </a:ext>
            </a:extLst>
          </p:cNvPr>
          <p:cNvGraphicFramePr>
            <a:graphicFrameLocks noGrp="1"/>
          </p:cNvGraphicFramePr>
          <p:nvPr>
            <p:ph idx="1"/>
            <p:extLst>
              <p:ext uri="{D42A27DB-BD31-4B8C-83A1-F6EECF244321}">
                <p14:modId xmlns:p14="http://schemas.microsoft.com/office/powerpoint/2010/main" val="4267105120"/>
              </p:ext>
            </p:extLst>
          </p:nvPr>
        </p:nvGraphicFramePr>
        <p:xfrm>
          <a:off x="677863" y="2160588"/>
          <a:ext cx="8596311" cy="3571240"/>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222402455"/>
                    </a:ext>
                  </a:extLst>
                </a:gridCol>
                <a:gridCol w="2865437">
                  <a:extLst>
                    <a:ext uri="{9D8B030D-6E8A-4147-A177-3AD203B41FA5}">
                      <a16:colId xmlns:a16="http://schemas.microsoft.com/office/drawing/2014/main" val="3938195070"/>
                    </a:ext>
                  </a:extLst>
                </a:gridCol>
                <a:gridCol w="2865437">
                  <a:extLst>
                    <a:ext uri="{9D8B030D-6E8A-4147-A177-3AD203B41FA5}">
                      <a16:colId xmlns:a16="http://schemas.microsoft.com/office/drawing/2014/main" val="4290107995"/>
                    </a:ext>
                  </a:extLst>
                </a:gridCol>
              </a:tblGrid>
              <a:tr h="370840">
                <a:tc>
                  <a:txBody>
                    <a:bodyPr/>
                    <a:lstStyle/>
                    <a:p>
                      <a:r>
                        <a:rPr lang="en-US" dirty="0"/>
                        <a:t>FEATURE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AAJ TAK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INDIA TODAY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1939457"/>
                  </a:ext>
                </a:extLst>
              </a:tr>
              <a:tr h="370840">
                <a:tc>
                  <a:txBody>
                    <a:bodyPr/>
                    <a:lstStyle/>
                    <a:p>
                      <a:r>
                        <a:rPr lang="en-US" dirty="0"/>
                        <a:t>Regional lang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065479"/>
                  </a:ext>
                </a:extLst>
              </a:tr>
              <a:tr h="370840">
                <a:tc>
                  <a:txBody>
                    <a:bodyPr/>
                    <a:lstStyle/>
                    <a:p>
                      <a:r>
                        <a:rPr lang="en-US" dirty="0"/>
                        <a:t>Live tv/ streaming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1721738"/>
                  </a:ext>
                </a:extLst>
              </a:tr>
              <a:tr h="370840">
                <a:tc>
                  <a:txBody>
                    <a:bodyPr/>
                    <a:lstStyle/>
                    <a:p>
                      <a:r>
                        <a:rPr lang="en-US" dirty="0"/>
                        <a:t>Multi language content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7153815"/>
                  </a:ext>
                </a:extLst>
              </a:tr>
              <a:tr h="370840">
                <a:tc>
                  <a:txBody>
                    <a:bodyPr/>
                    <a:lstStyle/>
                    <a:p>
                      <a:r>
                        <a:rPr lang="en-US" dirty="0"/>
                        <a:t>Breaking news alerts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4299693"/>
                  </a:ext>
                </a:extLst>
              </a:tr>
              <a:tr h="370840">
                <a:tc>
                  <a:txBody>
                    <a:bodyPr/>
                    <a:lstStyle/>
                    <a:p>
                      <a:r>
                        <a:rPr lang="en-US" dirty="0"/>
                        <a:t>Video news coverage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543939"/>
                  </a:ext>
                </a:extLst>
              </a:tr>
            </a:tbl>
          </a:graphicData>
        </a:graphic>
      </p:graphicFrame>
    </p:spTree>
    <p:extLst>
      <p:ext uri="{BB962C8B-B14F-4D97-AF65-F5344CB8AC3E}">
        <p14:creationId xmlns:p14="http://schemas.microsoft.com/office/powerpoint/2010/main" val="237037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9534" y="311150"/>
            <a:ext cx="8596668" cy="850900"/>
          </a:xfrm>
        </p:spPr>
        <p:txBody>
          <a:bodyPr/>
          <a:lstStyle/>
          <a:p>
            <a:pPr>
              <a:buFont typeface="Wingdings" pitchFamily="2" charset="2"/>
              <a:buChar char="q"/>
            </a:pPr>
            <a:r>
              <a:rPr lang="en-US" dirty="0">
                <a:solidFill>
                  <a:schemeClr val="tx1"/>
                </a:solidFill>
              </a:rPr>
              <a:t>FEASIBILITY STUDY</a:t>
            </a:r>
            <a:endParaRPr lang="en-US" dirty="0"/>
          </a:p>
        </p:txBody>
      </p:sp>
      <p:sp>
        <p:nvSpPr>
          <p:cNvPr id="5" name="TextBox 4"/>
          <p:cNvSpPr txBox="1"/>
          <p:nvPr/>
        </p:nvSpPr>
        <p:spPr>
          <a:xfrm>
            <a:off x="749300" y="1631950"/>
            <a:ext cx="7772400" cy="3754874"/>
          </a:xfrm>
          <a:prstGeom prst="rect">
            <a:avLst/>
          </a:prstGeom>
          <a:noFill/>
        </p:spPr>
        <p:txBody>
          <a:bodyPr wrap="square" rtlCol="0">
            <a:spAutoFit/>
          </a:bodyPr>
          <a:lstStyle/>
          <a:p>
            <a:pPr>
              <a:buFont typeface="Wingdings" pitchFamily="2" charset="2"/>
              <a:buChar char="v"/>
            </a:pPr>
            <a:r>
              <a:rPr lang="en-US" sz="2400" dirty="0"/>
              <a:t>TECHNICAL FEASIBILITY</a:t>
            </a:r>
          </a:p>
          <a:p>
            <a:endParaRPr lang="en-US" sz="2400" dirty="0"/>
          </a:p>
          <a:p>
            <a:pPr>
              <a:buFont typeface="Arial" pitchFamily="34" charset="0"/>
              <a:buChar char="•"/>
            </a:pPr>
            <a:r>
              <a:rPr lang="en-US" sz="2000" dirty="0"/>
              <a:t>News </a:t>
            </a:r>
            <a:r>
              <a:rPr lang="en-US" sz="2000" dirty="0" err="1"/>
              <a:t>api</a:t>
            </a:r>
            <a:r>
              <a:rPr lang="en-US" sz="2000" dirty="0"/>
              <a:t> for global news custom </a:t>
            </a:r>
            <a:r>
              <a:rPr lang="en-US" sz="2000" dirty="0" err="1"/>
              <a:t>apis</a:t>
            </a:r>
            <a:r>
              <a:rPr lang="en-US" sz="2000" dirty="0"/>
              <a:t>/</a:t>
            </a:r>
            <a:r>
              <a:rPr lang="en-US" sz="2000" dirty="0" err="1"/>
              <a:t>rss</a:t>
            </a:r>
            <a:r>
              <a:rPr lang="en-US" sz="2000" dirty="0"/>
              <a:t> for Indian news</a:t>
            </a:r>
          </a:p>
          <a:p>
            <a:endParaRPr lang="en-US" sz="2400" dirty="0"/>
          </a:p>
          <a:p>
            <a:pPr>
              <a:buFont typeface="Arial" pitchFamily="34" charset="0"/>
              <a:buChar char="•"/>
            </a:pPr>
            <a:r>
              <a:rPr lang="en-US" sz="2000" dirty="0"/>
              <a:t>React , node, express ,</a:t>
            </a:r>
            <a:r>
              <a:rPr lang="en-US" sz="2000" dirty="0" err="1"/>
              <a:t>MySQL</a:t>
            </a:r>
            <a:endParaRPr lang="en-US" sz="2000" dirty="0"/>
          </a:p>
          <a:p>
            <a:pPr>
              <a:buFont typeface="Arial" pitchFamily="34" charset="0"/>
              <a:buChar char="•"/>
            </a:pPr>
            <a:endParaRPr lang="en-US" sz="2400" dirty="0"/>
          </a:p>
          <a:p>
            <a:pPr>
              <a:buFont typeface="Arial" pitchFamily="34" charset="0"/>
              <a:buChar char="•"/>
            </a:pPr>
            <a:r>
              <a:rPr lang="en-US" sz="2000" dirty="0"/>
              <a:t>Use </a:t>
            </a:r>
            <a:r>
              <a:rPr lang="en-US" sz="2000" dirty="0" err="1"/>
              <a:t>google</a:t>
            </a:r>
            <a:r>
              <a:rPr lang="en-US" sz="2000" dirty="0"/>
              <a:t> translate </a:t>
            </a:r>
            <a:r>
              <a:rPr lang="en-US" sz="2000" dirty="0" err="1"/>
              <a:t>api</a:t>
            </a:r>
            <a:r>
              <a:rPr lang="en-US" sz="2000" dirty="0"/>
              <a:t>  pre translated feeds regional support</a:t>
            </a:r>
          </a:p>
          <a:p>
            <a:pPr>
              <a:buFont typeface="Arial" pitchFamily="34" charset="0"/>
              <a:buChar char="•"/>
            </a:pPr>
            <a:endParaRPr lang="en-US" sz="2000" dirty="0"/>
          </a:p>
          <a:p>
            <a:pPr>
              <a:buFont typeface="Arial" pitchFamily="34" charset="0"/>
              <a:buChar char="•"/>
            </a:pPr>
            <a:r>
              <a:rPr lang="en-US" sz="2000" dirty="0" err="1"/>
              <a:t>Youtube</a:t>
            </a:r>
            <a:r>
              <a:rPr lang="en-US" sz="2000" dirty="0"/>
              <a:t> </a:t>
            </a:r>
            <a:r>
              <a:rPr lang="en-US" sz="2000" dirty="0" err="1"/>
              <a:t>api</a:t>
            </a:r>
            <a:r>
              <a:rPr lang="en-US" sz="2000" dirty="0"/>
              <a:t> for videos , and push notifications</a:t>
            </a:r>
          </a:p>
          <a:p>
            <a:endParaRPr lang="en-US" sz="2400"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4155-23B0-77F8-E978-BDA5A48ECA9E}"/>
              </a:ext>
            </a:extLst>
          </p:cNvPr>
          <p:cNvSpPr>
            <a:spLocks noGrp="1"/>
          </p:cNvSpPr>
          <p:nvPr>
            <p:ph type="title"/>
          </p:nvPr>
        </p:nvSpPr>
        <p:spPr>
          <a:xfrm>
            <a:off x="585842" y="647700"/>
            <a:ext cx="5446658" cy="799323"/>
          </a:xfrm>
        </p:spPr>
        <p:txBody>
          <a:bodyPr/>
          <a:lstStyle/>
          <a:p>
            <a:pPr>
              <a:buFont typeface="Wingdings" pitchFamily="2" charset="2"/>
              <a:buChar char="v"/>
            </a:pPr>
            <a:r>
              <a:rPr lang="en-US" dirty="0">
                <a:solidFill>
                  <a:schemeClr val="tx1"/>
                </a:solidFill>
              </a:rPr>
              <a:t>Economic Feasibility</a:t>
            </a:r>
          </a:p>
        </p:txBody>
      </p:sp>
      <p:sp>
        <p:nvSpPr>
          <p:cNvPr id="13" name="Rectangle 7">
            <a:extLst>
              <a:ext uri="{FF2B5EF4-FFF2-40B4-BE49-F238E27FC236}">
                <a16:creationId xmlns:a16="http://schemas.microsoft.com/office/drawing/2014/main" id="{8BB650F4-4422-C28D-B8BE-F1EC37DEE732}"/>
              </a:ext>
            </a:extLst>
          </p:cNvPr>
          <p:cNvSpPr>
            <a:spLocks noChangeArrowheads="1"/>
          </p:cNvSpPr>
          <p:nvPr/>
        </p:nvSpPr>
        <p:spPr bwMode="auto">
          <a:xfrm>
            <a:off x="905069" y="1408923"/>
            <a:ext cx="4536609"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 design and development.</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Server and database setup.</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Licensing for APIs or third-party tools.</a:t>
            </a:r>
          </a:p>
        </p:txBody>
      </p:sp>
      <p:sp>
        <p:nvSpPr>
          <p:cNvPr id="15" name="Title 1">
            <a:extLst>
              <a:ext uri="{FF2B5EF4-FFF2-40B4-BE49-F238E27FC236}">
                <a16:creationId xmlns:a16="http://schemas.microsoft.com/office/drawing/2014/main" id="{D6F76D73-8C2C-1538-A6BA-516E6F1F0824}"/>
              </a:ext>
            </a:extLst>
          </p:cNvPr>
          <p:cNvSpPr txBox="1">
            <a:spLocks/>
          </p:cNvSpPr>
          <p:nvPr/>
        </p:nvSpPr>
        <p:spPr>
          <a:xfrm>
            <a:off x="649342" y="3275727"/>
            <a:ext cx="5182291" cy="726657"/>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buFont typeface="Wingdings" pitchFamily="2" charset="2"/>
              <a:buChar char="v"/>
            </a:pPr>
            <a:r>
              <a:rPr lang="en-US" dirty="0">
                <a:solidFill>
                  <a:schemeClr val="tx1"/>
                </a:solidFill>
              </a:rPr>
              <a:t>Operational Feasibility</a:t>
            </a:r>
          </a:p>
        </p:txBody>
      </p:sp>
      <p:sp>
        <p:nvSpPr>
          <p:cNvPr id="17" name="Rectangle 7">
            <a:extLst>
              <a:ext uri="{FF2B5EF4-FFF2-40B4-BE49-F238E27FC236}">
                <a16:creationId xmlns:a16="http://schemas.microsoft.com/office/drawing/2014/main" id="{EEE09EE7-76B6-3DEE-CB62-AE6DC02037CF}"/>
              </a:ext>
            </a:extLst>
          </p:cNvPr>
          <p:cNvSpPr>
            <a:spLocks noChangeArrowheads="1"/>
          </p:cNvSpPr>
          <p:nvPr/>
        </p:nvSpPr>
        <p:spPr bwMode="auto">
          <a:xfrm>
            <a:off x="905068" y="4127242"/>
            <a:ext cx="453660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10">
            <a:extLst>
              <a:ext uri="{FF2B5EF4-FFF2-40B4-BE49-F238E27FC236}">
                <a16:creationId xmlns:a16="http://schemas.microsoft.com/office/drawing/2014/main" id="{D7A58090-B5EB-E74D-C0B8-C4679BA946A0}"/>
              </a:ext>
            </a:extLst>
          </p:cNvPr>
          <p:cNvSpPr>
            <a:spLocks noChangeArrowheads="1"/>
          </p:cNvSpPr>
          <p:nvPr/>
        </p:nvSpPr>
        <p:spPr bwMode="auto">
          <a:xfrm>
            <a:off x="649342" y="3922058"/>
            <a:ext cx="581761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Developers, designers, and testers for app creation.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Content curators and moderators for news verification.</a:t>
            </a:r>
          </a:p>
          <a:p>
            <a:pPr marL="0" marR="0" lvl="0" indent="0" algn="l" defTabSz="914400" rtl="0" eaLnBrk="0" fontAlgn="base" latinLnBrk="0" hangingPunct="0">
              <a:lnSpc>
                <a:spcPct val="150000"/>
              </a:lnSpc>
              <a:spcBef>
                <a:spcPct val="0"/>
              </a:spcBef>
              <a:spcAft>
                <a:spcPct val="0"/>
              </a:spcAft>
              <a:buClrTx/>
              <a:buSzTx/>
              <a:buFont typeface="Arial"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Marketing team for user acquisition. </a:t>
            </a:r>
          </a:p>
        </p:txBody>
      </p:sp>
    </p:spTree>
    <p:extLst>
      <p:ext uri="{BB962C8B-B14F-4D97-AF65-F5344CB8AC3E}">
        <p14:creationId xmlns:p14="http://schemas.microsoft.com/office/powerpoint/2010/main" val="2994725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EA35D-1FFD-9988-5C20-F2555FDA5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27224-7A44-D6F6-17C6-A420DD9EAB77}"/>
              </a:ext>
            </a:extLst>
          </p:cNvPr>
          <p:cNvSpPr>
            <a:spLocks noGrp="1"/>
          </p:cNvSpPr>
          <p:nvPr>
            <p:ph type="title"/>
          </p:nvPr>
        </p:nvSpPr>
        <p:spPr>
          <a:xfrm>
            <a:off x="649342" y="609600"/>
            <a:ext cx="4641115" cy="799323"/>
          </a:xfrm>
        </p:spPr>
        <p:txBody>
          <a:bodyPr>
            <a:normAutofit fontScale="90000"/>
          </a:bodyPr>
          <a:lstStyle/>
          <a:p>
            <a:pPr>
              <a:buFont typeface="Wingdings" pitchFamily="2" charset="2"/>
              <a:buChar char="v"/>
            </a:pPr>
            <a:r>
              <a:rPr lang="en-US" dirty="0">
                <a:solidFill>
                  <a:schemeClr val="tx1"/>
                </a:solidFill>
              </a:rPr>
              <a:t>Scheduling Feasibility</a:t>
            </a:r>
          </a:p>
        </p:txBody>
      </p:sp>
      <p:sp>
        <p:nvSpPr>
          <p:cNvPr id="3" name="Rectangle 1">
            <a:extLst>
              <a:ext uri="{FF2B5EF4-FFF2-40B4-BE49-F238E27FC236}">
                <a16:creationId xmlns:a16="http://schemas.microsoft.com/office/drawing/2014/main" id="{338C8B59-E756-679F-58A0-7EA0B4DC14EE}"/>
              </a:ext>
            </a:extLst>
          </p:cNvPr>
          <p:cNvSpPr>
            <a:spLocks noChangeArrowheads="1"/>
          </p:cNvSpPr>
          <p:nvPr/>
        </p:nvSpPr>
        <p:spPr bwMode="auto">
          <a:xfrm>
            <a:off x="849085" y="1876031"/>
            <a:ext cx="398378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Prototype: 2-3 months.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Full-scale development: 6-8 months.</a:t>
            </a:r>
          </a:p>
          <a:p>
            <a:pPr marL="0" marR="0" lvl="0" indent="0" algn="l" defTabSz="914400" rtl="0" eaLnBrk="0" fontAlgn="base" latinLnBrk="0" hangingPunct="0">
              <a:lnSpc>
                <a:spcPct val="150000"/>
              </a:lnSpc>
              <a:spcBef>
                <a:spcPct val="0"/>
              </a:spcBef>
              <a:spcAft>
                <a:spcPct val="0"/>
              </a:spcAft>
              <a:buClrTx/>
              <a:buSzTx/>
              <a:buFont typeface="Arial"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Testing and launch: 2 months.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5167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2C320-CE1D-53B3-13A9-F820F9862ECB}"/>
              </a:ext>
            </a:extLst>
          </p:cNvPr>
          <p:cNvSpPr>
            <a:spLocks noGrp="1"/>
          </p:cNvSpPr>
          <p:nvPr>
            <p:ph type="title"/>
          </p:nvPr>
        </p:nvSpPr>
        <p:spPr>
          <a:xfrm>
            <a:off x="677334" y="307911"/>
            <a:ext cx="8596668" cy="643812"/>
          </a:xfrm>
        </p:spPr>
        <p:txBody>
          <a:bodyPr/>
          <a:lstStyle/>
          <a:p>
            <a:pPr marL="571500" indent="-571500">
              <a:buFont typeface="Wingdings" panose="05000000000000000000" pitchFamily="2" charset="2"/>
              <a:buChar char="q"/>
            </a:pPr>
            <a:r>
              <a:rPr lang="en-US" dirty="0">
                <a:solidFill>
                  <a:schemeClr val="tx1"/>
                </a:solidFill>
              </a:rPr>
              <a:t>Process model</a:t>
            </a:r>
          </a:p>
        </p:txBody>
      </p:sp>
      <p:pic>
        <p:nvPicPr>
          <p:cNvPr id="7" name="Picture 6">
            <a:extLst>
              <a:ext uri="{FF2B5EF4-FFF2-40B4-BE49-F238E27FC236}">
                <a16:creationId xmlns:a16="http://schemas.microsoft.com/office/drawing/2014/main" id="{26B2724D-DB00-4CF9-697E-1F9CD3566176}"/>
              </a:ext>
            </a:extLst>
          </p:cNvPr>
          <p:cNvPicPr>
            <a:picLocks noChangeAspect="1"/>
          </p:cNvPicPr>
          <p:nvPr/>
        </p:nvPicPr>
        <p:blipFill>
          <a:blip r:embed="rId2"/>
          <a:srcRect/>
          <a:stretch/>
        </p:blipFill>
        <p:spPr>
          <a:xfrm>
            <a:off x="1094860" y="1418253"/>
            <a:ext cx="7842378" cy="4245429"/>
          </a:xfrm>
          <a:prstGeom prst="rect">
            <a:avLst/>
          </a:prstGeom>
        </p:spPr>
      </p:pic>
    </p:spTree>
    <p:extLst>
      <p:ext uri="{BB962C8B-B14F-4D97-AF65-F5344CB8AC3E}">
        <p14:creationId xmlns:p14="http://schemas.microsoft.com/office/powerpoint/2010/main" val="1826575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74700"/>
          </a:xfrm>
        </p:spPr>
        <p:txBody>
          <a:bodyPr/>
          <a:lstStyle/>
          <a:p>
            <a:pPr>
              <a:buFont typeface="Wingdings" pitchFamily="2" charset="2"/>
              <a:buChar char="q"/>
            </a:pPr>
            <a:r>
              <a:rPr lang="en-US" b="1" dirty="0">
                <a:solidFill>
                  <a:schemeClr val="tx1"/>
                </a:solidFill>
              </a:rPr>
              <a:t>Use case admin diagram</a:t>
            </a:r>
          </a:p>
        </p:txBody>
      </p:sp>
      <p:pic>
        <p:nvPicPr>
          <p:cNvPr id="4" name="Content Placeholder 3" descr="use case diagram1.jpg"/>
          <p:cNvPicPr>
            <a:picLocks noGrp="1" noChangeAspect="1"/>
          </p:cNvPicPr>
          <p:nvPr>
            <p:ph idx="1"/>
          </p:nvPr>
        </p:nvPicPr>
        <p:blipFill>
          <a:blip r:embed="rId2"/>
          <a:stretch>
            <a:fillRect/>
          </a:stretch>
        </p:blipFill>
        <p:spPr>
          <a:xfrm>
            <a:off x="933450" y="1371600"/>
            <a:ext cx="8089900" cy="508000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0400"/>
          </a:xfrm>
        </p:spPr>
        <p:txBody>
          <a:bodyPr/>
          <a:lstStyle/>
          <a:p>
            <a:pPr>
              <a:buFont typeface="Wingdings" pitchFamily="2" charset="2"/>
              <a:buChar char="q"/>
            </a:pPr>
            <a:r>
              <a:rPr lang="en-US" b="1" dirty="0">
                <a:solidFill>
                  <a:schemeClr val="tx1"/>
                </a:solidFill>
              </a:rPr>
              <a:t>Use case user diagram</a:t>
            </a:r>
          </a:p>
        </p:txBody>
      </p:sp>
      <p:pic>
        <p:nvPicPr>
          <p:cNvPr id="4" name="Content Placeholder 3" descr="use case diagram 2.jpg"/>
          <p:cNvPicPr>
            <a:picLocks noGrp="1" noChangeAspect="1"/>
          </p:cNvPicPr>
          <p:nvPr>
            <p:ph idx="1"/>
          </p:nvPr>
        </p:nvPicPr>
        <p:blipFill>
          <a:blip r:embed="rId2"/>
          <a:stretch>
            <a:fillRect/>
          </a:stretch>
        </p:blipFill>
        <p:spPr>
          <a:xfrm>
            <a:off x="1085851" y="1498600"/>
            <a:ext cx="6807200" cy="52832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F89037B-E3D9-6B99-7F3C-41F3400A16EA}"/>
              </a:ext>
            </a:extLst>
          </p:cNvPr>
          <p:cNvGraphicFramePr>
            <a:graphicFrameLocks noGrp="1"/>
          </p:cNvGraphicFramePr>
          <p:nvPr>
            <p:extLst>
              <p:ext uri="{D42A27DB-BD31-4B8C-83A1-F6EECF244321}">
                <p14:modId xmlns:p14="http://schemas.microsoft.com/office/powerpoint/2010/main" val="2572644046"/>
              </p:ext>
            </p:extLst>
          </p:nvPr>
        </p:nvGraphicFramePr>
        <p:xfrm>
          <a:off x="625151" y="985917"/>
          <a:ext cx="8518850" cy="2443083"/>
        </p:xfrm>
        <a:graphic>
          <a:graphicData uri="http://schemas.openxmlformats.org/drawingml/2006/table">
            <a:tbl>
              <a:tblPr firstRow="1" firstCol="1" bandRow="1">
                <a:tableStyleId>{5C22544A-7EE6-4342-B048-85BDC9FD1C3A}</a:tableStyleId>
              </a:tblPr>
              <a:tblGrid>
                <a:gridCol w="1703770">
                  <a:extLst>
                    <a:ext uri="{9D8B030D-6E8A-4147-A177-3AD203B41FA5}">
                      <a16:colId xmlns:a16="http://schemas.microsoft.com/office/drawing/2014/main" val="1818636990"/>
                    </a:ext>
                  </a:extLst>
                </a:gridCol>
                <a:gridCol w="1703770">
                  <a:extLst>
                    <a:ext uri="{9D8B030D-6E8A-4147-A177-3AD203B41FA5}">
                      <a16:colId xmlns:a16="http://schemas.microsoft.com/office/drawing/2014/main" val="725150132"/>
                    </a:ext>
                  </a:extLst>
                </a:gridCol>
                <a:gridCol w="1703770">
                  <a:extLst>
                    <a:ext uri="{9D8B030D-6E8A-4147-A177-3AD203B41FA5}">
                      <a16:colId xmlns:a16="http://schemas.microsoft.com/office/drawing/2014/main" val="507742626"/>
                    </a:ext>
                  </a:extLst>
                </a:gridCol>
                <a:gridCol w="1703770">
                  <a:extLst>
                    <a:ext uri="{9D8B030D-6E8A-4147-A177-3AD203B41FA5}">
                      <a16:colId xmlns:a16="http://schemas.microsoft.com/office/drawing/2014/main" val="3378164862"/>
                    </a:ext>
                  </a:extLst>
                </a:gridCol>
                <a:gridCol w="1703770">
                  <a:extLst>
                    <a:ext uri="{9D8B030D-6E8A-4147-A177-3AD203B41FA5}">
                      <a16:colId xmlns:a16="http://schemas.microsoft.com/office/drawing/2014/main" val="2044863642"/>
                    </a:ext>
                  </a:extLst>
                </a:gridCol>
              </a:tblGrid>
              <a:tr h="299484">
                <a:tc>
                  <a:txBody>
                    <a:bodyPr/>
                    <a:lstStyle/>
                    <a:p>
                      <a:pPr algn="ctr">
                        <a:lnSpc>
                          <a:spcPct val="107000"/>
                        </a:lnSpc>
                        <a:spcAft>
                          <a:spcPts val="800"/>
                        </a:spcAft>
                      </a:pPr>
                      <a:r>
                        <a:rPr lang="en-US"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Datatype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Field Size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Constraints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79650525"/>
                  </a:ext>
                </a:extLst>
              </a:tr>
              <a:tr h="614705">
                <a:tc>
                  <a:txBody>
                    <a:bodyPr/>
                    <a:lstStyle/>
                    <a:p>
                      <a:pPr algn="ctr">
                        <a:lnSpc>
                          <a:spcPct val="107000"/>
                        </a:lnSpc>
                        <a:spcAft>
                          <a:spcPts val="800"/>
                        </a:spcAft>
                      </a:pPr>
                      <a:r>
                        <a:rPr lang="en-US" sz="1100" kern="100">
                          <a:effectLst/>
                        </a:rPr>
                        <a:t>userId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PRIMARY 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Unique identifier each user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36328671"/>
                  </a:ext>
                </a:extLst>
              </a:tr>
              <a:tr h="614705">
                <a:tc>
                  <a:txBody>
                    <a:bodyPr/>
                    <a:lstStyle/>
                    <a:p>
                      <a:pPr algn="ctr">
                        <a:lnSpc>
                          <a:spcPct val="107000"/>
                        </a:lnSpc>
                        <a:spcAft>
                          <a:spcPts val="800"/>
                        </a:spcAft>
                      </a:pPr>
                      <a:r>
                        <a:rPr lang="en-US" sz="1100" kern="100">
                          <a:effectLst/>
                        </a:rPr>
                        <a:t>username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VARCHAR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255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NOT NULL, UNIQUE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User's login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8439362"/>
                  </a:ext>
                </a:extLst>
              </a:tr>
              <a:tr h="299484">
                <a:tc>
                  <a:txBody>
                    <a:bodyPr/>
                    <a:lstStyle/>
                    <a:p>
                      <a:pPr algn="ctr">
                        <a:lnSpc>
                          <a:spcPct val="107000"/>
                        </a:lnSpc>
                        <a:spcAft>
                          <a:spcPts val="800"/>
                        </a:spcAft>
                      </a:pPr>
                      <a:r>
                        <a:rPr lang="en-US" sz="1100" kern="100">
                          <a:effectLst/>
                        </a:rPr>
                        <a:t>password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VARCHAR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255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User's password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99962267"/>
                  </a:ext>
                </a:extLst>
              </a:tr>
              <a:tr h="614705">
                <a:tc>
                  <a:txBody>
                    <a:bodyPr/>
                    <a:lstStyle/>
                    <a:p>
                      <a:pPr algn="ctr">
                        <a:lnSpc>
                          <a:spcPct val="107000"/>
                        </a:lnSpc>
                        <a:spcAft>
                          <a:spcPts val="800"/>
                        </a:spcAft>
                      </a:pPr>
                      <a:r>
                        <a:rPr lang="en-US" sz="1100" kern="100">
                          <a:effectLst/>
                        </a:rPr>
                        <a:t>email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VARCHAR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255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 UNIQUE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User's email address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68396265"/>
                  </a:ext>
                </a:extLst>
              </a:tr>
            </a:tbl>
          </a:graphicData>
        </a:graphic>
      </p:graphicFrame>
      <p:graphicFrame>
        <p:nvGraphicFramePr>
          <p:cNvPr id="10" name="Table 9">
            <a:extLst>
              <a:ext uri="{FF2B5EF4-FFF2-40B4-BE49-F238E27FC236}">
                <a16:creationId xmlns:a16="http://schemas.microsoft.com/office/drawing/2014/main" id="{7710ECD7-DBAE-0B9A-6987-F4E20BA5F086}"/>
              </a:ext>
            </a:extLst>
          </p:cNvPr>
          <p:cNvGraphicFramePr>
            <a:graphicFrameLocks noGrp="1"/>
          </p:cNvGraphicFramePr>
          <p:nvPr>
            <p:extLst>
              <p:ext uri="{D42A27DB-BD31-4B8C-83A1-F6EECF244321}">
                <p14:modId xmlns:p14="http://schemas.microsoft.com/office/powerpoint/2010/main" val="4119771256"/>
              </p:ext>
            </p:extLst>
          </p:nvPr>
        </p:nvGraphicFramePr>
        <p:xfrm>
          <a:off x="625150" y="4230055"/>
          <a:ext cx="8518850" cy="1881495"/>
        </p:xfrm>
        <a:graphic>
          <a:graphicData uri="http://schemas.openxmlformats.org/drawingml/2006/table">
            <a:tbl>
              <a:tblPr firstRow="1" firstCol="1" bandRow="1">
                <a:tableStyleId>{5C22544A-7EE6-4342-B048-85BDC9FD1C3A}</a:tableStyleId>
              </a:tblPr>
              <a:tblGrid>
                <a:gridCol w="1703770">
                  <a:extLst>
                    <a:ext uri="{9D8B030D-6E8A-4147-A177-3AD203B41FA5}">
                      <a16:colId xmlns:a16="http://schemas.microsoft.com/office/drawing/2014/main" val="2244718004"/>
                    </a:ext>
                  </a:extLst>
                </a:gridCol>
                <a:gridCol w="1703770">
                  <a:extLst>
                    <a:ext uri="{9D8B030D-6E8A-4147-A177-3AD203B41FA5}">
                      <a16:colId xmlns:a16="http://schemas.microsoft.com/office/drawing/2014/main" val="2174125560"/>
                    </a:ext>
                  </a:extLst>
                </a:gridCol>
                <a:gridCol w="1703770">
                  <a:extLst>
                    <a:ext uri="{9D8B030D-6E8A-4147-A177-3AD203B41FA5}">
                      <a16:colId xmlns:a16="http://schemas.microsoft.com/office/drawing/2014/main" val="1826189615"/>
                    </a:ext>
                  </a:extLst>
                </a:gridCol>
                <a:gridCol w="1703770">
                  <a:extLst>
                    <a:ext uri="{9D8B030D-6E8A-4147-A177-3AD203B41FA5}">
                      <a16:colId xmlns:a16="http://schemas.microsoft.com/office/drawing/2014/main" val="3290987481"/>
                    </a:ext>
                  </a:extLst>
                </a:gridCol>
                <a:gridCol w="1703770">
                  <a:extLst>
                    <a:ext uri="{9D8B030D-6E8A-4147-A177-3AD203B41FA5}">
                      <a16:colId xmlns:a16="http://schemas.microsoft.com/office/drawing/2014/main" val="2525059720"/>
                    </a:ext>
                  </a:extLst>
                </a:gridCol>
              </a:tblGrid>
              <a:tr h="372386">
                <a:tc>
                  <a:txBody>
                    <a:bodyPr/>
                    <a:lstStyle/>
                    <a:p>
                      <a:pPr algn="ctr">
                        <a:lnSpc>
                          <a:spcPct val="107000"/>
                        </a:lnSpc>
                        <a:spcAft>
                          <a:spcPts val="800"/>
                        </a:spcAft>
                      </a:pPr>
                      <a:r>
                        <a:rPr lang="en-US"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Datatype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Field Size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Constraints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099037"/>
                  </a:ext>
                </a:extLst>
              </a:tr>
              <a:tr h="764337">
                <a:tc>
                  <a:txBody>
                    <a:bodyPr/>
                    <a:lstStyle/>
                    <a:p>
                      <a:pPr algn="ctr">
                        <a:lnSpc>
                          <a:spcPct val="107000"/>
                        </a:lnSpc>
                        <a:spcAft>
                          <a:spcPts val="800"/>
                        </a:spcAft>
                      </a:pPr>
                      <a:r>
                        <a:rPr lang="en-US" sz="1100" kern="100">
                          <a:effectLst/>
                        </a:rPr>
                        <a:t>adminId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PRIMARY 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Unique identifier for each admin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2672326"/>
                  </a:ext>
                </a:extLst>
              </a:tr>
              <a:tr h="372386">
                <a:tc>
                  <a:txBody>
                    <a:bodyPr/>
                    <a:lstStyle/>
                    <a:p>
                      <a:pPr algn="ctr">
                        <a:lnSpc>
                          <a:spcPct val="107000"/>
                        </a:lnSpc>
                        <a:spcAft>
                          <a:spcPts val="800"/>
                        </a:spcAft>
                      </a:pPr>
                      <a:r>
                        <a:rPr lang="en-US" sz="1100" kern="100">
                          <a:effectLst/>
                        </a:rPr>
                        <a:t>username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VARCHAR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255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 UNIQUE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Admin's login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16562830"/>
                  </a:ext>
                </a:extLst>
              </a:tr>
              <a:tr h="372386">
                <a:tc>
                  <a:txBody>
                    <a:bodyPr/>
                    <a:lstStyle/>
                    <a:p>
                      <a:pPr algn="ctr">
                        <a:lnSpc>
                          <a:spcPct val="107000"/>
                        </a:lnSpc>
                        <a:spcAft>
                          <a:spcPts val="800"/>
                        </a:spcAft>
                      </a:pPr>
                      <a:r>
                        <a:rPr lang="en-US" sz="1100" kern="100">
                          <a:effectLst/>
                        </a:rPr>
                        <a:t>password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VARCHAR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255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Admin's password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5368332"/>
                  </a:ext>
                </a:extLst>
              </a:tr>
            </a:tbl>
          </a:graphicData>
        </a:graphic>
      </p:graphicFrame>
      <p:sp>
        <p:nvSpPr>
          <p:cNvPr id="11" name="TextBox 10">
            <a:extLst>
              <a:ext uri="{FF2B5EF4-FFF2-40B4-BE49-F238E27FC236}">
                <a16:creationId xmlns:a16="http://schemas.microsoft.com/office/drawing/2014/main" id="{3CFC9CDA-5DD4-C9C8-6723-49812CBEA39F}"/>
              </a:ext>
            </a:extLst>
          </p:cNvPr>
          <p:cNvSpPr txBox="1"/>
          <p:nvPr/>
        </p:nvSpPr>
        <p:spPr>
          <a:xfrm>
            <a:off x="494522" y="447869"/>
            <a:ext cx="2929813" cy="369332"/>
          </a:xfrm>
          <a:prstGeom prst="rect">
            <a:avLst/>
          </a:prstGeom>
          <a:noFill/>
        </p:spPr>
        <p:txBody>
          <a:bodyPr wrap="square" rtlCol="0">
            <a:spAutoFit/>
          </a:bodyPr>
          <a:lstStyle/>
          <a:p>
            <a:r>
              <a:rPr lang="en-US" dirty="0"/>
              <a:t>User :</a:t>
            </a:r>
            <a:endParaRPr lang="en-IN" dirty="0"/>
          </a:p>
        </p:txBody>
      </p:sp>
      <p:sp>
        <p:nvSpPr>
          <p:cNvPr id="12" name="TextBox 11">
            <a:extLst>
              <a:ext uri="{FF2B5EF4-FFF2-40B4-BE49-F238E27FC236}">
                <a16:creationId xmlns:a16="http://schemas.microsoft.com/office/drawing/2014/main" id="{669A68DB-9413-75A6-994A-056008E58A35}"/>
              </a:ext>
            </a:extLst>
          </p:cNvPr>
          <p:cNvSpPr txBox="1"/>
          <p:nvPr/>
        </p:nvSpPr>
        <p:spPr>
          <a:xfrm>
            <a:off x="494522" y="3763541"/>
            <a:ext cx="2929813" cy="369332"/>
          </a:xfrm>
          <a:prstGeom prst="rect">
            <a:avLst/>
          </a:prstGeom>
          <a:noFill/>
        </p:spPr>
        <p:txBody>
          <a:bodyPr wrap="square" rtlCol="0">
            <a:spAutoFit/>
          </a:bodyPr>
          <a:lstStyle/>
          <a:p>
            <a:r>
              <a:rPr lang="en-US" dirty="0"/>
              <a:t>Admin :</a:t>
            </a:r>
            <a:endParaRPr lang="en-IN" dirty="0"/>
          </a:p>
        </p:txBody>
      </p:sp>
    </p:spTree>
    <p:extLst>
      <p:ext uri="{BB962C8B-B14F-4D97-AF65-F5344CB8AC3E}">
        <p14:creationId xmlns:p14="http://schemas.microsoft.com/office/powerpoint/2010/main" val="246047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166A64B-44D6-35A5-03AB-0E3443E93B11}"/>
              </a:ext>
            </a:extLst>
          </p:cNvPr>
          <p:cNvGraphicFramePr>
            <a:graphicFrameLocks noGrp="1"/>
          </p:cNvGraphicFramePr>
          <p:nvPr>
            <p:extLst>
              <p:ext uri="{D42A27DB-BD31-4B8C-83A1-F6EECF244321}">
                <p14:modId xmlns:p14="http://schemas.microsoft.com/office/powerpoint/2010/main" val="2653249807"/>
              </p:ext>
            </p:extLst>
          </p:nvPr>
        </p:nvGraphicFramePr>
        <p:xfrm>
          <a:off x="693269" y="805589"/>
          <a:ext cx="8693330" cy="2292171"/>
        </p:xfrm>
        <a:graphic>
          <a:graphicData uri="http://schemas.openxmlformats.org/drawingml/2006/table">
            <a:tbl>
              <a:tblPr firstRow="1" firstCol="1" bandRow="1">
                <a:tableStyleId>{5C22544A-7EE6-4342-B048-85BDC9FD1C3A}</a:tableStyleId>
              </a:tblPr>
              <a:tblGrid>
                <a:gridCol w="1738666">
                  <a:extLst>
                    <a:ext uri="{9D8B030D-6E8A-4147-A177-3AD203B41FA5}">
                      <a16:colId xmlns:a16="http://schemas.microsoft.com/office/drawing/2014/main" val="629570987"/>
                    </a:ext>
                  </a:extLst>
                </a:gridCol>
                <a:gridCol w="1738666">
                  <a:extLst>
                    <a:ext uri="{9D8B030D-6E8A-4147-A177-3AD203B41FA5}">
                      <a16:colId xmlns:a16="http://schemas.microsoft.com/office/drawing/2014/main" val="1777639002"/>
                    </a:ext>
                  </a:extLst>
                </a:gridCol>
                <a:gridCol w="1738666">
                  <a:extLst>
                    <a:ext uri="{9D8B030D-6E8A-4147-A177-3AD203B41FA5}">
                      <a16:colId xmlns:a16="http://schemas.microsoft.com/office/drawing/2014/main" val="1976366831"/>
                    </a:ext>
                  </a:extLst>
                </a:gridCol>
                <a:gridCol w="1738666">
                  <a:extLst>
                    <a:ext uri="{9D8B030D-6E8A-4147-A177-3AD203B41FA5}">
                      <a16:colId xmlns:a16="http://schemas.microsoft.com/office/drawing/2014/main" val="2454736114"/>
                    </a:ext>
                  </a:extLst>
                </a:gridCol>
                <a:gridCol w="1738666">
                  <a:extLst>
                    <a:ext uri="{9D8B030D-6E8A-4147-A177-3AD203B41FA5}">
                      <a16:colId xmlns:a16="http://schemas.microsoft.com/office/drawing/2014/main" val="2307840037"/>
                    </a:ext>
                  </a:extLst>
                </a:gridCol>
              </a:tblGrid>
              <a:tr h="204473">
                <a:tc>
                  <a:txBody>
                    <a:bodyPr/>
                    <a:lstStyle/>
                    <a:p>
                      <a:pPr algn="ctr">
                        <a:lnSpc>
                          <a:spcPct val="107000"/>
                        </a:lnSpc>
                        <a:spcAft>
                          <a:spcPts val="800"/>
                        </a:spcAft>
                      </a:pPr>
                      <a:r>
                        <a:rPr lang="en-US"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Datatype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Field Size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Constraints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5039106"/>
                  </a:ext>
                </a:extLst>
              </a:tr>
              <a:tr h="419688">
                <a:tc>
                  <a:txBody>
                    <a:bodyPr/>
                    <a:lstStyle/>
                    <a:p>
                      <a:pPr algn="ctr">
                        <a:lnSpc>
                          <a:spcPct val="107000"/>
                        </a:lnSpc>
                        <a:spcAft>
                          <a:spcPts val="800"/>
                        </a:spcAft>
                      </a:pPr>
                      <a:r>
                        <a:rPr lang="en-US" sz="1100" kern="100">
                          <a:effectLst/>
                        </a:rPr>
                        <a:t>articleId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PRIMARY 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Unique identifier for each article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28362494"/>
                  </a:ext>
                </a:extLst>
              </a:tr>
              <a:tr h="204473">
                <a:tc>
                  <a:txBody>
                    <a:bodyPr/>
                    <a:lstStyle/>
                    <a:p>
                      <a:pPr algn="ctr">
                        <a:lnSpc>
                          <a:spcPct val="107000"/>
                        </a:lnSpc>
                        <a:spcAft>
                          <a:spcPts val="800"/>
                        </a:spcAft>
                      </a:pPr>
                      <a:r>
                        <a:rPr lang="en-US" sz="1100" kern="100">
                          <a:effectLst/>
                        </a:rPr>
                        <a:t>title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VARCHAR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255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Title of the article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0640807"/>
                  </a:ext>
                </a:extLst>
              </a:tr>
              <a:tr h="419688">
                <a:tc>
                  <a:txBody>
                    <a:bodyPr/>
                    <a:lstStyle/>
                    <a:p>
                      <a:pPr algn="ctr">
                        <a:lnSpc>
                          <a:spcPct val="107000"/>
                        </a:lnSpc>
                        <a:spcAft>
                          <a:spcPts val="800"/>
                        </a:spcAft>
                      </a:pPr>
                      <a:r>
                        <a:rPr lang="en-US" sz="1100" kern="100">
                          <a:effectLst/>
                        </a:rPr>
                        <a:t>content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TEXT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Main content of the article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72592460"/>
                  </a:ext>
                </a:extLst>
              </a:tr>
              <a:tr h="204473">
                <a:tc>
                  <a:txBody>
                    <a:bodyPr/>
                    <a:lstStyle/>
                    <a:p>
                      <a:pPr algn="ctr">
                        <a:lnSpc>
                          <a:spcPct val="107000"/>
                        </a:lnSpc>
                        <a:spcAft>
                          <a:spcPts val="800"/>
                        </a:spcAft>
                      </a:pPr>
                      <a:r>
                        <a:rPr lang="en-US" sz="1100" kern="100">
                          <a:effectLst/>
                        </a:rPr>
                        <a:t>author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VARCHAR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255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Author of the article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57478529"/>
                  </a:ext>
                </a:extLst>
              </a:tr>
              <a:tr h="419688">
                <a:tc>
                  <a:txBody>
                    <a:bodyPr/>
                    <a:lstStyle/>
                    <a:p>
                      <a:pPr algn="ctr">
                        <a:lnSpc>
                          <a:spcPct val="107000"/>
                        </a:lnSpc>
                        <a:spcAft>
                          <a:spcPts val="800"/>
                        </a:spcAft>
                      </a:pPr>
                      <a:r>
                        <a:rPr lang="en-US" sz="1100" kern="100">
                          <a:effectLst/>
                        </a:rPr>
                        <a:t>publishedDate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DATE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Date of article publication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12151668"/>
                  </a:ext>
                </a:extLst>
              </a:tr>
              <a:tr h="419688">
                <a:tc>
                  <a:txBody>
                    <a:bodyPr/>
                    <a:lstStyle/>
                    <a:p>
                      <a:pPr algn="ctr">
                        <a:lnSpc>
                          <a:spcPct val="107000"/>
                        </a:lnSpc>
                        <a:spcAft>
                          <a:spcPts val="800"/>
                        </a:spcAft>
                      </a:pPr>
                      <a:r>
                        <a:rPr lang="en-US" sz="1100" kern="100">
                          <a:effectLst/>
                        </a:rPr>
                        <a:t>categoryId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FOREIGN KEY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Foreign key to the Category table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2106971"/>
                  </a:ext>
                </a:extLst>
              </a:tr>
            </a:tbl>
          </a:graphicData>
        </a:graphic>
      </p:graphicFrame>
      <p:sp>
        <p:nvSpPr>
          <p:cNvPr id="3" name="TextBox 2">
            <a:extLst>
              <a:ext uri="{FF2B5EF4-FFF2-40B4-BE49-F238E27FC236}">
                <a16:creationId xmlns:a16="http://schemas.microsoft.com/office/drawing/2014/main" id="{BF3C9CE0-0725-492B-C93D-10F98F18470C}"/>
              </a:ext>
            </a:extLst>
          </p:cNvPr>
          <p:cNvSpPr txBox="1"/>
          <p:nvPr/>
        </p:nvSpPr>
        <p:spPr>
          <a:xfrm>
            <a:off x="513184" y="329876"/>
            <a:ext cx="2929813" cy="369332"/>
          </a:xfrm>
          <a:prstGeom prst="rect">
            <a:avLst/>
          </a:prstGeom>
          <a:noFill/>
        </p:spPr>
        <p:txBody>
          <a:bodyPr wrap="square" rtlCol="0">
            <a:spAutoFit/>
          </a:bodyPr>
          <a:lstStyle/>
          <a:p>
            <a:r>
              <a:rPr lang="en-US" dirty="0"/>
              <a:t>Article :</a:t>
            </a:r>
            <a:endParaRPr lang="en-IN" dirty="0"/>
          </a:p>
        </p:txBody>
      </p:sp>
      <p:graphicFrame>
        <p:nvGraphicFramePr>
          <p:cNvPr id="4" name="Table 3">
            <a:extLst>
              <a:ext uri="{FF2B5EF4-FFF2-40B4-BE49-F238E27FC236}">
                <a16:creationId xmlns:a16="http://schemas.microsoft.com/office/drawing/2014/main" id="{1A03FADD-1D87-6BEC-B18A-941A9F86BC66}"/>
              </a:ext>
            </a:extLst>
          </p:cNvPr>
          <p:cNvGraphicFramePr>
            <a:graphicFrameLocks noGrp="1"/>
          </p:cNvGraphicFramePr>
          <p:nvPr>
            <p:extLst>
              <p:ext uri="{D42A27DB-BD31-4B8C-83A1-F6EECF244321}">
                <p14:modId xmlns:p14="http://schemas.microsoft.com/office/powerpoint/2010/main" val="4175353241"/>
              </p:ext>
            </p:extLst>
          </p:nvPr>
        </p:nvGraphicFramePr>
        <p:xfrm>
          <a:off x="693268" y="3760241"/>
          <a:ext cx="8693330" cy="2292170"/>
        </p:xfrm>
        <a:graphic>
          <a:graphicData uri="http://schemas.openxmlformats.org/drawingml/2006/table">
            <a:tbl>
              <a:tblPr firstRow="1" firstCol="1" bandRow="1">
                <a:tableStyleId>{5C22544A-7EE6-4342-B048-85BDC9FD1C3A}</a:tableStyleId>
              </a:tblPr>
              <a:tblGrid>
                <a:gridCol w="1738666">
                  <a:extLst>
                    <a:ext uri="{9D8B030D-6E8A-4147-A177-3AD203B41FA5}">
                      <a16:colId xmlns:a16="http://schemas.microsoft.com/office/drawing/2014/main" val="3685760524"/>
                    </a:ext>
                  </a:extLst>
                </a:gridCol>
                <a:gridCol w="1738666">
                  <a:extLst>
                    <a:ext uri="{9D8B030D-6E8A-4147-A177-3AD203B41FA5}">
                      <a16:colId xmlns:a16="http://schemas.microsoft.com/office/drawing/2014/main" val="3727095329"/>
                    </a:ext>
                  </a:extLst>
                </a:gridCol>
                <a:gridCol w="1738666">
                  <a:extLst>
                    <a:ext uri="{9D8B030D-6E8A-4147-A177-3AD203B41FA5}">
                      <a16:colId xmlns:a16="http://schemas.microsoft.com/office/drawing/2014/main" val="93470657"/>
                    </a:ext>
                  </a:extLst>
                </a:gridCol>
                <a:gridCol w="1738666">
                  <a:extLst>
                    <a:ext uri="{9D8B030D-6E8A-4147-A177-3AD203B41FA5}">
                      <a16:colId xmlns:a16="http://schemas.microsoft.com/office/drawing/2014/main" val="2350724975"/>
                    </a:ext>
                  </a:extLst>
                </a:gridCol>
                <a:gridCol w="1738666">
                  <a:extLst>
                    <a:ext uri="{9D8B030D-6E8A-4147-A177-3AD203B41FA5}">
                      <a16:colId xmlns:a16="http://schemas.microsoft.com/office/drawing/2014/main" val="2721527729"/>
                    </a:ext>
                  </a:extLst>
                </a:gridCol>
              </a:tblGrid>
              <a:tr h="224499">
                <a:tc>
                  <a:txBody>
                    <a:bodyPr/>
                    <a:lstStyle/>
                    <a:p>
                      <a:pPr algn="ctr">
                        <a:lnSpc>
                          <a:spcPct val="107000"/>
                        </a:lnSpc>
                        <a:spcAft>
                          <a:spcPts val="800"/>
                        </a:spcAft>
                      </a:pPr>
                      <a:r>
                        <a:rPr lang="en-US"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Datatype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Field Size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Constraints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1500457"/>
                  </a:ext>
                </a:extLst>
              </a:tr>
              <a:tr h="460793">
                <a:tc>
                  <a:txBody>
                    <a:bodyPr/>
                    <a:lstStyle/>
                    <a:p>
                      <a:pPr algn="ctr">
                        <a:lnSpc>
                          <a:spcPct val="107000"/>
                        </a:lnSpc>
                        <a:spcAft>
                          <a:spcPts val="800"/>
                        </a:spcAft>
                      </a:pPr>
                      <a:r>
                        <a:rPr lang="en-US" sz="1100" kern="100">
                          <a:effectLst/>
                        </a:rPr>
                        <a:t>commentId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PRIMARY 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Unique identifier for each comment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2085525"/>
                  </a:ext>
                </a:extLst>
              </a:tr>
              <a:tr h="224499">
                <a:tc>
                  <a:txBody>
                    <a:bodyPr/>
                    <a:lstStyle/>
                    <a:p>
                      <a:pPr algn="ctr">
                        <a:lnSpc>
                          <a:spcPct val="107000"/>
                        </a:lnSpc>
                        <a:spcAft>
                          <a:spcPts val="800"/>
                        </a:spcAft>
                      </a:pPr>
                      <a:r>
                        <a:rPr lang="en-US" sz="1100" kern="100">
                          <a:effectLst/>
                        </a:rPr>
                        <a:t>content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TEXT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NOT NULL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Content of the comment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9420347"/>
                  </a:ext>
                </a:extLst>
              </a:tr>
              <a:tr h="460793">
                <a:tc>
                  <a:txBody>
                    <a:bodyPr/>
                    <a:lstStyle/>
                    <a:p>
                      <a:pPr algn="ctr">
                        <a:lnSpc>
                          <a:spcPct val="107000"/>
                        </a:lnSpc>
                        <a:spcAft>
                          <a:spcPts val="800"/>
                        </a:spcAft>
                      </a:pPr>
                      <a:r>
                        <a:rPr lang="en-US" sz="1100" kern="100">
                          <a:effectLst/>
                        </a:rPr>
                        <a:t>userId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FOREIGN 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Foreign key to the User table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3566490"/>
                  </a:ext>
                </a:extLst>
              </a:tr>
              <a:tr h="460793">
                <a:tc>
                  <a:txBody>
                    <a:bodyPr/>
                    <a:lstStyle/>
                    <a:p>
                      <a:pPr algn="ctr">
                        <a:lnSpc>
                          <a:spcPct val="107000"/>
                        </a:lnSpc>
                        <a:spcAft>
                          <a:spcPts val="800"/>
                        </a:spcAft>
                      </a:pPr>
                      <a:r>
                        <a:rPr lang="en-US" sz="1100" kern="100">
                          <a:effectLst/>
                        </a:rPr>
                        <a:t>articleId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FOREIGN 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Foreign key to the NewsArticle table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78476859"/>
                  </a:ext>
                </a:extLst>
              </a:tr>
              <a:tr h="460793">
                <a:tc>
                  <a:txBody>
                    <a:bodyPr/>
                    <a:lstStyle/>
                    <a:p>
                      <a:pPr algn="ctr">
                        <a:lnSpc>
                          <a:spcPct val="107000"/>
                        </a:lnSpc>
                        <a:spcAft>
                          <a:spcPts val="800"/>
                        </a:spcAft>
                      </a:pPr>
                      <a:r>
                        <a:rPr lang="en-US" sz="1100" kern="100">
                          <a:effectLst/>
                        </a:rPr>
                        <a:t>status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ENUM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('approved', 'rejected')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NOT NULL</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Approval status of the comment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82493904"/>
                  </a:ext>
                </a:extLst>
              </a:tr>
            </a:tbl>
          </a:graphicData>
        </a:graphic>
      </p:graphicFrame>
      <p:sp>
        <p:nvSpPr>
          <p:cNvPr id="5" name="TextBox 4">
            <a:extLst>
              <a:ext uri="{FF2B5EF4-FFF2-40B4-BE49-F238E27FC236}">
                <a16:creationId xmlns:a16="http://schemas.microsoft.com/office/drawing/2014/main" id="{81536302-1620-C9CE-5961-B61A2D5140F3}"/>
              </a:ext>
            </a:extLst>
          </p:cNvPr>
          <p:cNvSpPr txBox="1"/>
          <p:nvPr/>
        </p:nvSpPr>
        <p:spPr>
          <a:xfrm>
            <a:off x="513184" y="3244334"/>
            <a:ext cx="2929813" cy="369332"/>
          </a:xfrm>
          <a:prstGeom prst="rect">
            <a:avLst/>
          </a:prstGeom>
          <a:noFill/>
        </p:spPr>
        <p:txBody>
          <a:bodyPr wrap="square" rtlCol="0">
            <a:spAutoFit/>
          </a:bodyPr>
          <a:lstStyle/>
          <a:p>
            <a:r>
              <a:rPr lang="en-US" dirty="0"/>
              <a:t>Comment :</a:t>
            </a:r>
            <a:endParaRPr lang="en-IN" dirty="0"/>
          </a:p>
        </p:txBody>
      </p:sp>
    </p:spTree>
    <p:extLst>
      <p:ext uri="{BB962C8B-B14F-4D97-AF65-F5344CB8AC3E}">
        <p14:creationId xmlns:p14="http://schemas.microsoft.com/office/powerpoint/2010/main" val="3773413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09B2F7F-00C7-C8F9-4B5F-1E4DB403CB10}"/>
              </a:ext>
            </a:extLst>
          </p:cNvPr>
          <p:cNvGraphicFramePr>
            <a:graphicFrameLocks noGrp="1"/>
          </p:cNvGraphicFramePr>
          <p:nvPr>
            <p:extLst>
              <p:ext uri="{D42A27DB-BD31-4B8C-83A1-F6EECF244321}">
                <p14:modId xmlns:p14="http://schemas.microsoft.com/office/powerpoint/2010/main" val="3970790305"/>
              </p:ext>
            </p:extLst>
          </p:nvPr>
        </p:nvGraphicFramePr>
        <p:xfrm>
          <a:off x="758580" y="923163"/>
          <a:ext cx="8432070" cy="1848027"/>
        </p:xfrm>
        <a:graphic>
          <a:graphicData uri="http://schemas.openxmlformats.org/drawingml/2006/table">
            <a:tbl>
              <a:tblPr firstRow="1" firstCol="1" bandRow="1">
                <a:tableStyleId>{5C22544A-7EE6-4342-B048-85BDC9FD1C3A}</a:tableStyleId>
              </a:tblPr>
              <a:tblGrid>
                <a:gridCol w="1686414">
                  <a:extLst>
                    <a:ext uri="{9D8B030D-6E8A-4147-A177-3AD203B41FA5}">
                      <a16:colId xmlns:a16="http://schemas.microsoft.com/office/drawing/2014/main" val="3450562373"/>
                    </a:ext>
                  </a:extLst>
                </a:gridCol>
                <a:gridCol w="1686414">
                  <a:extLst>
                    <a:ext uri="{9D8B030D-6E8A-4147-A177-3AD203B41FA5}">
                      <a16:colId xmlns:a16="http://schemas.microsoft.com/office/drawing/2014/main" val="3469196081"/>
                    </a:ext>
                  </a:extLst>
                </a:gridCol>
                <a:gridCol w="1686414">
                  <a:extLst>
                    <a:ext uri="{9D8B030D-6E8A-4147-A177-3AD203B41FA5}">
                      <a16:colId xmlns:a16="http://schemas.microsoft.com/office/drawing/2014/main" val="4022164100"/>
                    </a:ext>
                  </a:extLst>
                </a:gridCol>
                <a:gridCol w="1686414">
                  <a:extLst>
                    <a:ext uri="{9D8B030D-6E8A-4147-A177-3AD203B41FA5}">
                      <a16:colId xmlns:a16="http://schemas.microsoft.com/office/drawing/2014/main" val="3256978664"/>
                    </a:ext>
                  </a:extLst>
                </a:gridCol>
                <a:gridCol w="1686414">
                  <a:extLst>
                    <a:ext uri="{9D8B030D-6E8A-4147-A177-3AD203B41FA5}">
                      <a16:colId xmlns:a16="http://schemas.microsoft.com/office/drawing/2014/main" val="531513913"/>
                    </a:ext>
                  </a:extLst>
                </a:gridCol>
              </a:tblGrid>
              <a:tr h="200651">
                <a:tc>
                  <a:txBody>
                    <a:bodyPr/>
                    <a:lstStyle/>
                    <a:p>
                      <a:pPr algn="ctr">
                        <a:lnSpc>
                          <a:spcPct val="107000"/>
                        </a:lnSpc>
                        <a:spcAft>
                          <a:spcPts val="800"/>
                        </a:spcAft>
                      </a:pPr>
                      <a:r>
                        <a:rPr lang="en-US"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Datatype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Field Size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Constraints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70966430"/>
                  </a:ext>
                </a:extLst>
              </a:tr>
              <a:tr h="411844">
                <a:tc>
                  <a:txBody>
                    <a:bodyPr/>
                    <a:lstStyle/>
                    <a:p>
                      <a:pPr algn="ctr">
                        <a:lnSpc>
                          <a:spcPct val="107000"/>
                        </a:lnSpc>
                        <a:spcAft>
                          <a:spcPts val="800"/>
                        </a:spcAft>
                      </a:pPr>
                      <a:r>
                        <a:rPr lang="en-US" sz="1100" kern="100">
                          <a:effectLst/>
                        </a:rPr>
                        <a:t>notificationId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PRIMARY 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Unique identifier for each notification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99968751"/>
                  </a:ext>
                </a:extLst>
              </a:tr>
              <a:tr h="411844">
                <a:tc>
                  <a:txBody>
                    <a:bodyPr/>
                    <a:lstStyle/>
                    <a:p>
                      <a:pPr algn="ctr">
                        <a:lnSpc>
                          <a:spcPct val="107000"/>
                        </a:lnSpc>
                        <a:spcAft>
                          <a:spcPts val="800"/>
                        </a:spcAft>
                      </a:pPr>
                      <a:r>
                        <a:rPr lang="en-US" sz="1100" kern="100" dirty="0" err="1">
                          <a:effectLst/>
                        </a:rPr>
                        <a:t>userId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FOREIGN 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Foreign key to the User table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30359460"/>
                  </a:ext>
                </a:extLst>
              </a:tr>
              <a:tr h="411844">
                <a:tc>
                  <a:txBody>
                    <a:bodyPr/>
                    <a:lstStyle/>
                    <a:p>
                      <a:pPr algn="ctr">
                        <a:lnSpc>
                          <a:spcPct val="107000"/>
                        </a:lnSpc>
                        <a:spcAft>
                          <a:spcPts val="800"/>
                        </a:spcAft>
                      </a:pPr>
                      <a:r>
                        <a:rPr lang="en-US" sz="1100" kern="100">
                          <a:effectLst/>
                        </a:rPr>
                        <a:t>message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TEXT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255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Content of the notification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4516288"/>
                  </a:ext>
                </a:extLst>
              </a:tr>
              <a:tr h="411844">
                <a:tc>
                  <a:txBody>
                    <a:bodyPr/>
                    <a:lstStyle/>
                    <a:p>
                      <a:pPr algn="ctr">
                        <a:lnSpc>
                          <a:spcPct val="107000"/>
                        </a:lnSpc>
                        <a:spcAft>
                          <a:spcPts val="800"/>
                        </a:spcAft>
                      </a:pPr>
                      <a:r>
                        <a:rPr lang="en-US" sz="1100" kern="100">
                          <a:effectLst/>
                        </a:rPr>
                        <a:t>timestamp</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DATETIME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Time when the notification was sent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5766971"/>
                  </a:ext>
                </a:extLst>
              </a:tr>
            </a:tbl>
          </a:graphicData>
        </a:graphic>
      </p:graphicFrame>
      <p:graphicFrame>
        <p:nvGraphicFramePr>
          <p:cNvPr id="3" name="Table 2">
            <a:extLst>
              <a:ext uri="{FF2B5EF4-FFF2-40B4-BE49-F238E27FC236}">
                <a16:creationId xmlns:a16="http://schemas.microsoft.com/office/drawing/2014/main" id="{8E98A3AA-49A5-B790-034A-17C1E2A885D0}"/>
              </a:ext>
            </a:extLst>
          </p:cNvPr>
          <p:cNvGraphicFramePr>
            <a:graphicFrameLocks noGrp="1"/>
          </p:cNvGraphicFramePr>
          <p:nvPr>
            <p:extLst>
              <p:ext uri="{D42A27DB-BD31-4B8C-83A1-F6EECF244321}">
                <p14:modId xmlns:p14="http://schemas.microsoft.com/office/powerpoint/2010/main" val="2672471008"/>
              </p:ext>
            </p:extLst>
          </p:nvPr>
        </p:nvGraphicFramePr>
        <p:xfrm>
          <a:off x="758580" y="3639093"/>
          <a:ext cx="8432070" cy="1744670"/>
        </p:xfrm>
        <a:graphic>
          <a:graphicData uri="http://schemas.openxmlformats.org/drawingml/2006/table">
            <a:tbl>
              <a:tblPr firstRow="1" firstCol="1" bandRow="1">
                <a:tableStyleId>{5C22544A-7EE6-4342-B048-85BDC9FD1C3A}</a:tableStyleId>
              </a:tblPr>
              <a:tblGrid>
                <a:gridCol w="1686414">
                  <a:extLst>
                    <a:ext uri="{9D8B030D-6E8A-4147-A177-3AD203B41FA5}">
                      <a16:colId xmlns:a16="http://schemas.microsoft.com/office/drawing/2014/main" val="3064322811"/>
                    </a:ext>
                  </a:extLst>
                </a:gridCol>
                <a:gridCol w="1686414">
                  <a:extLst>
                    <a:ext uri="{9D8B030D-6E8A-4147-A177-3AD203B41FA5}">
                      <a16:colId xmlns:a16="http://schemas.microsoft.com/office/drawing/2014/main" val="2567086067"/>
                    </a:ext>
                  </a:extLst>
                </a:gridCol>
                <a:gridCol w="1686414">
                  <a:extLst>
                    <a:ext uri="{9D8B030D-6E8A-4147-A177-3AD203B41FA5}">
                      <a16:colId xmlns:a16="http://schemas.microsoft.com/office/drawing/2014/main" val="2792686157"/>
                    </a:ext>
                  </a:extLst>
                </a:gridCol>
                <a:gridCol w="1686414">
                  <a:extLst>
                    <a:ext uri="{9D8B030D-6E8A-4147-A177-3AD203B41FA5}">
                      <a16:colId xmlns:a16="http://schemas.microsoft.com/office/drawing/2014/main" val="2509659379"/>
                    </a:ext>
                  </a:extLst>
                </a:gridCol>
                <a:gridCol w="1686414">
                  <a:extLst>
                    <a:ext uri="{9D8B030D-6E8A-4147-A177-3AD203B41FA5}">
                      <a16:colId xmlns:a16="http://schemas.microsoft.com/office/drawing/2014/main" val="3446837552"/>
                    </a:ext>
                  </a:extLst>
                </a:gridCol>
              </a:tblGrid>
              <a:tr h="285774">
                <a:tc>
                  <a:txBody>
                    <a:bodyPr/>
                    <a:lstStyle/>
                    <a:p>
                      <a:pPr algn="ctr">
                        <a:lnSpc>
                          <a:spcPct val="107000"/>
                        </a:lnSpc>
                        <a:spcAft>
                          <a:spcPts val="800"/>
                        </a:spcAft>
                      </a:pPr>
                      <a:r>
                        <a:rPr lang="en-US"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Datatype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Field Size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Constraints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77414342"/>
                  </a:ext>
                </a:extLst>
              </a:tr>
              <a:tr h="586561">
                <a:tc>
                  <a:txBody>
                    <a:bodyPr/>
                    <a:lstStyle/>
                    <a:p>
                      <a:pPr algn="ctr">
                        <a:lnSpc>
                          <a:spcPct val="107000"/>
                        </a:lnSpc>
                        <a:spcAft>
                          <a:spcPts val="800"/>
                        </a:spcAft>
                      </a:pPr>
                      <a:r>
                        <a:rPr lang="en-US" sz="1100" kern="100">
                          <a:effectLst/>
                        </a:rPr>
                        <a:t>categoryId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PRIMARY KEY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Unique identifier for each category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36344697"/>
                  </a:ext>
                </a:extLst>
              </a:tr>
              <a:tr h="285774">
                <a:tc>
                  <a:txBody>
                    <a:bodyPr/>
                    <a:lstStyle/>
                    <a:p>
                      <a:pPr algn="ctr">
                        <a:lnSpc>
                          <a:spcPct val="107000"/>
                        </a:lnSpc>
                        <a:spcAft>
                          <a:spcPts val="800"/>
                        </a:spcAft>
                      </a:pPr>
                      <a:r>
                        <a:rPr lang="en-US" sz="1100" kern="100">
                          <a:effectLst/>
                        </a:rPr>
                        <a:t>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VARCHAR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255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Name of the category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9450595"/>
                  </a:ext>
                </a:extLst>
              </a:tr>
              <a:tr h="586561">
                <a:tc>
                  <a:txBody>
                    <a:bodyPr/>
                    <a:lstStyle/>
                    <a:p>
                      <a:pPr algn="ctr">
                        <a:lnSpc>
                          <a:spcPct val="107000"/>
                        </a:lnSpc>
                        <a:spcAft>
                          <a:spcPts val="800"/>
                        </a:spcAft>
                      </a:pPr>
                      <a:r>
                        <a:rPr lang="en-US"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TEXT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latin typeface="Calibri" panose="020F0502020204030204" pitchFamily="34" charset="0"/>
                          <a:ea typeface="Calibri" panose="020F0502020204030204" pitchFamily="34" charset="0"/>
                          <a:cs typeface="Times New Roman" panose="02020603050405020304" pitchFamily="18" charset="0"/>
                        </a:rPr>
                        <a:t>255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a:effectLst/>
                        </a:rPr>
                        <a:t>NULLABLE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1100" kern="100" dirty="0">
                          <a:effectLst/>
                        </a:rPr>
                        <a:t>Description of the category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7634091"/>
                  </a:ext>
                </a:extLst>
              </a:tr>
            </a:tbl>
          </a:graphicData>
        </a:graphic>
      </p:graphicFrame>
      <p:sp>
        <p:nvSpPr>
          <p:cNvPr id="4" name="TextBox 3">
            <a:extLst>
              <a:ext uri="{FF2B5EF4-FFF2-40B4-BE49-F238E27FC236}">
                <a16:creationId xmlns:a16="http://schemas.microsoft.com/office/drawing/2014/main" id="{CCCD4F55-0643-A3A6-A40A-E27344BDCBA7}"/>
              </a:ext>
            </a:extLst>
          </p:cNvPr>
          <p:cNvSpPr txBox="1"/>
          <p:nvPr/>
        </p:nvSpPr>
        <p:spPr>
          <a:xfrm>
            <a:off x="513184" y="329876"/>
            <a:ext cx="2929813" cy="369332"/>
          </a:xfrm>
          <a:prstGeom prst="rect">
            <a:avLst/>
          </a:prstGeom>
          <a:noFill/>
        </p:spPr>
        <p:txBody>
          <a:bodyPr wrap="square" rtlCol="0">
            <a:spAutoFit/>
          </a:bodyPr>
          <a:lstStyle/>
          <a:p>
            <a:r>
              <a:rPr lang="en-US" dirty="0"/>
              <a:t>Notification :</a:t>
            </a:r>
            <a:endParaRPr lang="en-IN" dirty="0"/>
          </a:p>
        </p:txBody>
      </p:sp>
      <p:sp>
        <p:nvSpPr>
          <p:cNvPr id="5" name="TextBox 4">
            <a:extLst>
              <a:ext uri="{FF2B5EF4-FFF2-40B4-BE49-F238E27FC236}">
                <a16:creationId xmlns:a16="http://schemas.microsoft.com/office/drawing/2014/main" id="{E5EE223C-DF13-6CD6-3163-0AD57240B354}"/>
              </a:ext>
            </a:extLst>
          </p:cNvPr>
          <p:cNvSpPr txBox="1"/>
          <p:nvPr/>
        </p:nvSpPr>
        <p:spPr>
          <a:xfrm>
            <a:off x="513183" y="3218907"/>
            <a:ext cx="2929813" cy="369332"/>
          </a:xfrm>
          <a:prstGeom prst="rect">
            <a:avLst/>
          </a:prstGeom>
          <a:noFill/>
        </p:spPr>
        <p:txBody>
          <a:bodyPr wrap="square" rtlCol="0">
            <a:spAutoFit/>
          </a:bodyPr>
          <a:lstStyle/>
          <a:p>
            <a:r>
              <a:rPr lang="en-US" dirty="0"/>
              <a:t>Category :</a:t>
            </a:r>
            <a:endParaRPr lang="en-IN" dirty="0"/>
          </a:p>
        </p:txBody>
      </p:sp>
    </p:spTree>
    <p:extLst>
      <p:ext uri="{BB962C8B-B14F-4D97-AF65-F5344CB8AC3E}">
        <p14:creationId xmlns:p14="http://schemas.microsoft.com/office/powerpoint/2010/main" val="1208518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739187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197</TotalTime>
  <Words>644</Words>
  <Application>Microsoft Office PowerPoint</Application>
  <PresentationFormat>Widescreen</PresentationFormat>
  <Paragraphs>244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PowerPoint Presentation</vt:lpstr>
      <vt:lpstr>INTRODUCTION</vt:lpstr>
      <vt:lpstr>PowerPoint Presentation</vt:lpstr>
      <vt:lpstr>DRAWBACKS:</vt:lpstr>
      <vt:lpstr>ANALYSIS FACT FINDING METHOD</vt:lpstr>
      <vt:lpstr>FEASIBILITY STUDY</vt:lpstr>
      <vt:lpstr>Economic Feasibility</vt:lpstr>
      <vt:lpstr>Scheduling Feasibility</vt:lpstr>
      <vt:lpstr>Process model</vt:lpstr>
      <vt:lpstr>Use case admin diagram</vt:lpstr>
      <vt:lpstr>Use case user diagram</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HARSHAL RANAVAYA</dc:creator>
  <cp:lastModifiedBy>nikhil.gounder03@outlook.com</cp:lastModifiedBy>
  <cp:revision>22</cp:revision>
  <dcterms:created xsi:type="dcterms:W3CDTF">2024-11-29T06:19:12Z</dcterms:created>
  <dcterms:modified xsi:type="dcterms:W3CDTF">2024-12-26T03:28:33Z</dcterms:modified>
</cp:coreProperties>
</file>