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9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7" r:id="rId19"/>
    <p:sldId id="288" r:id="rId20"/>
    <p:sldId id="289" r:id="rId21"/>
    <p:sldId id="290" r:id="rId22"/>
    <p:sldId id="291" r:id="rId2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76FE57-61DE-427C-3FCC-49D6DF9F46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BAFCBB-4BAF-DC57-17B2-1838C42E206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431A889-3D50-4EC5-847B-236C76519373}" type="datetimeFigureOut">
              <a:rPr lang="en-IN"/>
              <a:pPr>
                <a:defRPr/>
              </a:pPr>
              <a:t>12-04-2024</a:t>
            </a:fld>
            <a:endParaRPr lang="en-I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25EE599-F69A-4C49-1C90-687B3DB84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90365E0-3DF4-23C2-6FBD-D744742DEF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F618C-BCC1-BD26-D075-7DC4E5A200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B8736-2701-0649-D0A5-5AED1F074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AEAF5DD-E985-4DA6-8E41-E58011D32116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Google Shape;138;g10ff22f651e_0_0:notes">
            <a:extLst>
              <a:ext uri="{FF2B5EF4-FFF2-40B4-BE49-F238E27FC236}">
                <a16:creationId xmlns:a16="http://schemas.microsoft.com/office/drawing/2014/main" id="{53EA8810-F2C8-BADB-6735-125A00149B6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Google Shape;139;g10ff22f651e_0_0:notes">
            <a:extLst>
              <a:ext uri="{FF2B5EF4-FFF2-40B4-BE49-F238E27FC236}">
                <a16:creationId xmlns:a16="http://schemas.microsoft.com/office/drawing/2014/main" id="{DF2E7F4D-3FE9-782E-52A3-D3F8766DBFD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Pts val="1100"/>
              <a:buFont typeface="Arial" panose="020B0604020202020204" pitchFamily="34" charset="0"/>
              <a:buChar char="●"/>
            </a:pPr>
            <a:endParaRPr lang="en-US" altLang="en-US" sz="11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B0B7B1-486E-99DF-B6DD-A8AAC6988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EDBFD-AF4F-4C8A-AE5C-119500FC3BA0}" type="datetimeFigureOut">
              <a:rPr lang="en-IN"/>
              <a:pPr>
                <a:defRPr/>
              </a:pPr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05AE8-43AD-C974-B1F5-A2CDA0BDD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BEED1-0872-98B5-95E8-06E8ABFFA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6859F-043C-4818-9544-66F4E6FF563E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088486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3BFFF-17DF-A4CF-BA11-B33AA440B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D7A93C-DEA0-49DA-81F2-3065B90008A0}" type="datetimeFigureOut">
              <a:rPr lang="en-IN"/>
              <a:pPr>
                <a:defRPr/>
              </a:pPr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94836-D1E1-FBB8-7045-B0D20AC15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145BB-3367-2A92-C7A5-36AC9501C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BAB3A-C32A-4392-81BC-5F3EA1AA3301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352240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C1C74-3E32-4902-866D-344D7FC99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F7080-8FD8-432B-918B-F70D9177FE43}" type="datetimeFigureOut">
              <a:rPr lang="en-IN"/>
              <a:pPr>
                <a:defRPr/>
              </a:pPr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3126A-7E4C-050B-44BB-09DF01EEA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06111-8A70-4197-7581-A038356B8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B6CF66-A76F-403D-9A4A-CDE5A8FF0028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23082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1989735-07CD-99EB-DA71-3B6AFCF74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F54BEE-45DD-41CE-A758-41829EE26199}" type="datetimeFigureOut">
              <a:rPr lang="en-IN"/>
              <a:pPr>
                <a:defRPr/>
              </a:pPr>
              <a:t>12-04-2024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2FC796B-766D-5E44-5522-9423E0C4D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5EDF364-E3CA-1535-11D0-7B197282D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F5DE3-194B-4D01-8DD6-EC925403220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870754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9904998-F2D4-77B8-1ED4-C9FB8EF36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36343B-72D4-4404-9A09-ECCFB0F298F5}" type="datetimeFigureOut">
              <a:rPr lang="en-IN"/>
              <a:pPr>
                <a:defRPr/>
              </a:pPr>
              <a:t>12-04-2024</a:t>
            </a:fld>
            <a:endParaRPr lang="en-I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D71083A-8417-E712-A888-D064FFCB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206934C-2150-9078-69B6-8DC98F70A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F2334A-3AB0-4F92-A039-55615413F99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254757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48B3C16-A4D2-A97C-7DF0-7AB0E6594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0568D4-3833-4281-9A8E-272271B1CEFB}" type="datetimeFigureOut">
              <a:rPr lang="en-IN"/>
              <a:pPr>
                <a:defRPr/>
              </a:pPr>
              <a:t>12-04-2024</a:t>
            </a:fld>
            <a:endParaRPr lang="en-I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E6B84E4-57DB-24D7-66A1-70959040B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759DC7E-5C6A-A4AD-C84F-231328276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5E4C74-F481-405C-82C6-96403C884485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7131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878C8A0-C35F-1E4F-26D2-E7F6635B5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3DDCCD-2277-421C-A44B-EB2CFBCF6266}" type="datetimeFigureOut">
              <a:rPr lang="en-IN"/>
              <a:pPr>
                <a:defRPr/>
              </a:pPr>
              <a:t>12-04-2024</a:t>
            </a:fld>
            <a:endParaRPr lang="en-I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7AF49E-E903-ADF4-116D-C259DC655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022A281-C0CA-2D15-FFC5-A83A0188D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68C60-CEE1-4DFD-BBEC-83FACE496342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398771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5F5FC65-A6E3-30D8-F70F-316884C8E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58EF0C-CB34-49C6-8A2D-BD48CBECF1CD}" type="datetimeFigureOut">
              <a:rPr lang="en-IN"/>
              <a:pPr>
                <a:defRPr/>
              </a:pPr>
              <a:t>12-04-2024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F6F79C0-F4EE-0817-CA91-D4D317B01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E41885-FC06-BF21-AC7B-BFCCCED90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BF7D86-F4B0-4046-95CF-F570351D2463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818600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BCB2CCC-4850-FC49-BA86-12C08A15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87A89A-91C2-453F-A522-6DF1DB018A34}" type="datetimeFigureOut">
              <a:rPr lang="en-IN"/>
              <a:pPr>
                <a:defRPr/>
              </a:pPr>
              <a:t>12-04-2024</a:t>
            </a:fld>
            <a:endParaRPr lang="en-I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1064E79-46E5-C7CF-C61E-2B010B798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5D8839-F1DC-19A4-BBCA-418D24187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30945-9FF4-4D0B-B47D-2C1B37F738F6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808082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69648-C368-A099-2566-5B011BE7B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5383AA-3AC6-42E3-9BE3-5C29E8B56A6E}" type="datetimeFigureOut">
              <a:rPr lang="en-IN"/>
              <a:pPr>
                <a:defRPr/>
              </a:pPr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AC206-8381-DC62-D686-58298AB1F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3B01-657B-8652-94C1-0346FBF2E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BA80E9-DA89-4B46-81E9-CB2AB78FB1DC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20815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81499-8ED1-98F4-DB8E-E62386737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6E5828-AE8F-43A0-A852-10FADC344FD8}" type="datetimeFigureOut">
              <a:rPr lang="en-IN"/>
              <a:pPr>
                <a:defRPr/>
              </a:pPr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383DC-5F6F-BC38-6B9B-035828D50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78B9F-FFC6-FA94-2BB8-A8C0BC252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AED44D-C29C-4D74-A0DE-58BF965A0665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765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300CB96D-7E03-C9B3-1375-6ADAFE23841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58B6F39-7A12-412B-CA04-316A0F3DE1D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FFA0B-7C47-1DE6-004A-42E44EF11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8125E38-8A3C-46EB-A198-19EB9BC7E1F0}" type="datetimeFigureOut">
              <a:rPr lang="en-IN"/>
              <a:pPr>
                <a:defRPr/>
              </a:pPr>
              <a:t>12-04-2024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7772C-BCF6-09AB-7FF6-76B7A3567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6FC27-6CF4-7C51-0D4F-7C86830C89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8C4FEE4-04BD-4628-9E2A-52EA6FF28B19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Google Shape;142;p27">
            <a:extLst>
              <a:ext uri="{FF2B5EF4-FFF2-40B4-BE49-F238E27FC236}">
                <a16:creationId xmlns:a16="http://schemas.microsoft.com/office/drawing/2014/main" id="{97F9F0B6-890F-4586-59E1-296A1A9C7EAC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54000"/>
            <a:ext cx="1371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Google Shape;144;p27">
            <a:extLst>
              <a:ext uri="{FF2B5EF4-FFF2-40B4-BE49-F238E27FC236}">
                <a16:creationId xmlns:a16="http://schemas.microsoft.com/office/drawing/2014/main" id="{83196481-C505-F9C9-75C7-69FCF4697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" y="268288"/>
            <a:ext cx="12192000" cy="5018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b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I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 V Institute of Computer Studies, Gandhinagar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(a constituent Colleges of </a:t>
            </a:r>
            <a:r>
              <a:rPr lang="en-IN" alt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Kadi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IN" alt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Sarva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IN" altLang="en-US" sz="240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Vishwavidyalaya</a:t>
            </a:r>
            <a:r>
              <a:rPr lang="en-I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)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IN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BCA PROGRAMME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endParaRPr lang="en-IN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SEMESTER- VI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ROBOPEDIA-III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 BCA 606 (A)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 pitchFamily="34" charset="0"/>
              </a:rPr>
              <a:t> PROJECT WORK –IV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 sz="1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 pitchFamily="34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TITLE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 sz="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GROUP NUMBER :</a:t>
            </a: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 sz="2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Clr>
                <a:srgbClr val="000000"/>
              </a:buClr>
              <a:buSzPts val="3200"/>
              <a:buFont typeface="Arial" panose="020B0604020202020204" pitchFamily="34" charset="0"/>
              <a:buNone/>
            </a:pPr>
            <a:endParaRPr lang="en-US" altLang="en-US" sz="16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Font typeface="Arial" panose="020B0604020202020204" pitchFamily="34" charset="0"/>
              <a:buNone/>
            </a:pPr>
            <a:endParaRPr lang="en-US" altLang="en-US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F404054-6744-9775-F29A-A31BBE2F1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418510"/>
              </p:ext>
            </p:extLst>
          </p:nvPr>
        </p:nvGraphicFramePr>
        <p:xfrm>
          <a:off x="590550" y="4159250"/>
          <a:ext cx="11182350" cy="22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8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5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55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Sr. No.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Student Name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 err="1"/>
                        <a:t>Enrollment</a:t>
                      </a:r>
                      <a:r>
                        <a:rPr lang="en-IN" sz="1800" dirty="0"/>
                        <a:t> No.</a:t>
                      </a:r>
                    </a:p>
                  </a:txBody>
                  <a:tcPr marT="45733" marB="45733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Exam No.</a:t>
                      </a:r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 dirty="0">
                          <a:effectLst/>
                          <a:latin typeface="Times New Roman"/>
                        </a:rPr>
                        <a:t>01</a:t>
                      </a:r>
                      <a:endParaRPr lang="en-IN" sz="1100" kern="100" dirty="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 dirty="0">
                          <a:effectLst/>
                          <a:latin typeface="Times New Roman"/>
                        </a:rPr>
                        <a:t>Ansari Mohmed </a:t>
                      </a:r>
                      <a:r>
                        <a:rPr lang="en-US" sz="1400" kern="100" dirty="0" err="1">
                          <a:effectLst/>
                          <a:latin typeface="Times New Roman"/>
                        </a:rPr>
                        <a:t>parvez</a:t>
                      </a:r>
                      <a:r>
                        <a:rPr lang="en-US" sz="1400" kern="100" dirty="0">
                          <a:effectLst/>
                          <a:latin typeface="Times New Roman"/>
                        </a:rPr>
                        <a:t> </a:t>
                      </a:r>
                      <a:endParaRPr lang="en-IN" sz="1100" kern="100" dirty="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>
                          <a:effectLst/>
                          <a:latin typeface="Times New Roman"/>
                        </a:rPr>
                        <a:t>21BCA53001</a:t>
                      </a:r>
                      <a:endParaRPr lang="en-IN" sz="1100" kern="10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756002</a:t>
                      </a:r>
                      <a:endParaRPr lang="en-IN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 dirty="0">
                          <a:effectLst/>
                          <a:latin typeface="Times New Roman"/>
                        </a:rPr>
                        <a:t>02</a:t>
                      </a:r>
                      <a:endParaRPr lang="en-IN" sz="1100" kern="100" dirty="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 dirty="0" err="1">
                          <a:effectLst/>
                          <a:latin typeface="Times New Roman"/>
                        </a:rPr>
                        <a:t>Gounder</a:t>
                      </a:r>
                      <a:r>
                        <a:rPr lang="en-US" sz="1400" kern="100" dirty="0">
                          <a:effectLst/>
                          <a:latin typeface="Times New Roman"/>
                        </a:rPr>
                        <a:t> Nikhil</a:t>
                      </a:r>
                      <a:endParaRPr lang="en-IN" sz="1100" kern="100" dirty="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>
                          <a:effectLst/>
                          <a:latin typeface="Times New Roman"/>
                        </a:rPr>
                        <a:t>21BCA53028</a:t>
                      </a:r>
                      <a:endParaRPr lang="en-IN" sz="1100" kern="10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756027</a:t>
                      </a:r>
                      <a:endParaRPr lang="en-IN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 dirty="0">
                          <a:effectLst/>
                          <a:latin typeface="Times New Roman"/>
                        </a:rPr>
                        <a:t>03</a:t>
                      </a:r>
                      <a:endParaRPr lang="en-IN" sz="1100" kern="100" dirty="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 dirty="0">
                          <a:effectLst/>
                          <a:latin typeface="Times New Roman"/>
                        </a:rPr>
                        <a:t>Patel Himanshu</a:t>
                      </a:r>
                      <a:endParaRPr lang="en-IN" sz="1100" kern="100" dirty="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>
                          <a:effectLst/>
                          <a:latin typeface="Times New Roman"/>
                        </a:rPr>
                        <a:t>21BCA53078</a:t>
                      </a:r>
                      <a:endParaRPr lang="en-IN" sz="1100" kern="10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756074</a:t>
                      </a:r>
                      <a:endParaRPr lang="en-IN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 dirty="0">
                          <a:effectLst/>
                          <a:latin typeface="Times New Roman"/>
                        </a:rPr>
                        <a:t>04</a:t>
                      </a:r>
                      <a:endParaRPr lang="en-IN" sz="1100" kern="100" dirty="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 dirty="0" err="1">
                          <a:effectLst/>
                          <a:latin typeface="Times New Roman"/>
                        </a:rPr>
                        <a:t>Ranavaya</a:t>
                      </a:r>
                      <a:r>
                        <a:rPr lang="en-US" sz="1400" kern="100" dirty="0">
                          <a:effectLst/>
                          <a:latin typeface="Times New Roman"/>
                        </a:rPr>
                        <a:t> </a:t>
                      </a:r>
                      <a:r>
                        <a:rPr lang="en-US" sz="1400" kern="100" dirty="0" err="1">
                          <a:effectLst/>
                          <a:latin typeface="Times New Roman"/>
                        </a:rPr>
                        <a:t>Harshal</a:t>
                      </a:r>
                      <a:endParaRPr lang="en-IN" sz="1100" kern="100" dirty="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>
                          <a:effectLst/>
                          <a:latin typeface="Times New Roman"/>
                        </a:rPr>
                        <a:t>21BCA53108</a:t>
                      </a:r>
                      <a:endParaRPr lang="en-IN" sz="1100" kern="10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756103</a:t>
                      </a:r>
                      <a:endParaRPr lang="en-IN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 dirty="0">
                          <a:effectLst/>
                          <a:latin typeface="Times New Roman"/>
                        </a:rPr>
                        <a:t>05</a:t>
                      </a:r>
                      <a:endParaRPr lang="en-IN" sz="1100" kern="100" dirty="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 dirty="0" err="1">
                          <a:effectLst/>
                          <a:latin typeface="Times New Roman"/>
                        </a:rPr>
                        <a:t>Vasiwala</a:t>
                      </a:r>
                      <a:r>
                        <a:rPr lang="en-US" sz="1400" kern="100" dirty="0">
                          <a:effectLst/>
                          <a:latin typeface="Times New Roman"/>
                        </a:rPr>
                        <a:t> Anfal</a:t>
                      </a:r>
                      <a:endParaRPr lang="en-IN" sz="1100" kern="100" dirty="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</a:pPr>
                      <a:r>
                        <a:rPr lang="en-US" sz="1400" kern="100" dirty="0">
                          <a:effectLst/>
                          <a:latin typeface="Times New Roman"/>
                        </a:rPr>
                        <a:t>21BCA53138</a:t>
                      </a:r>
                      <a:endParaRPr lang="en-IN" sz="1100" kern="100" dirty="0">
                        <a:effectLst/>
                        <a:latin typeface="Times New Roman"/>
                        <a:ea typeface="Times New Roman" panose="02020603050405020304" pitchFamily="18" charset="0"/>
                        <a:cs typeface="Times New Roman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756128</a:t>
                      </a:r>
                      <a:endParaRPr lang="en-IN" sz="1800" dirty="0"/>
                    </a:p>
                  </a:txBody>
                  <a:tcPr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113" name="Picture 5" descr="SVICS LOGO.png">
            <a:extLst>
              <a:ext uri="{FF2B5EF4-FFF2-40B4-BE49-F238E27FC236}">
                <a16:creationId xmlns:a16="http://schemas.microsoft.com/office/drawing/2014/main" id="{BBF5CA4B-D114-CCC0-8D7C-3354C4C24A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4813" y="115888"/>
            <a:ext cx="1398587" cy="139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C8FDEC3D-7D4E-1850-F268-9D817117F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6541"/>
            <a:ext cx="10515600" cy="575182"/>
          </a:xfrm>
        </p:spPr>
        <p:txBody>
          <a:bodyPr/>
          <a:lstStyle/>
          <a:p>
            <a:pPr algn="ctr" eaLnBrk="1" hangingPunct="1"/>
            <a:r>
              <a:rPr lang="en-I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Table of Contents</a:t>
            </a:r>
            <a:endParaRPr lang="en-IN" altLang="en-US" sz="3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AC5EBC-92A5-30A9-D472-F431451AFE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5524394"/>
              </p:ext>
            </p:extLst>
          </p:nvPr>
        </p:nvGraphicFramePr>
        <p:xfrm>
          <a:off x="157163" y="429358"/>
          <a:ext cx="11877675" cy="6372016"/>
        </p:xfrm>
        <a:graphic>
          <a:graphicData uri="http://schemas.openxmlformats.org/drawingml/2006/table">
            <a:tbl>
              <a:tblPr/>
              <a:tblGrid>
                <a:gridCol w="1317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0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9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48"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SR. NO.</a:t>
                      </a:r>
                      <a:endParaRPr kumimoji="0" lang="en-I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Particular</a:t>
                      </a:r>
                      <a:endParaRPr kumimoji="0" lang="en-I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Slide No.</a:t>
                      </a:r>
                      <a:endParaRPr kumimoji="0" lang="en-I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tabLst>
                          <a:tab pos="1207135" algn="l"/>
                        </a:tabLst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TITLE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PROTOTYPE DEFINITION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PROTOTYPE OVERVIEW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6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PROTOTYPE COMPONENTS COST SPECIFICATION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7-8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PROTOTYPE BLOCK CIRCUIT DIAGRAM</a:t>
                      </a:r>
                      <a:endParaRPr lang="en-IN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PROTOTYPE SCHEMATIC CIRCUIT DIAGRAM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PROTOTYPE HARDWARE COMPONENTS ASSEMBLED LABELLED DISPLAY 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PROTOTYPE CODE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11-14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PROTOTYPE CODE UPLOADING STEPS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15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PROTOTYPE GHANTT CHART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ADVANTAGES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16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DISADVANTAGES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17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REAL LIFE APPLICATION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18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CONCLUSION(PROTOTYPE DEVELOPMEMT LEARNING)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lnSpc>
                          <a:spcPct val="90000"/>
                        </a:lnSpc>
                        <a:spcBef>
                          <a:spcPts val="1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 eaLnBrk="0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lnSpc>
                          <a:spcPct val="9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19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FUTURE ENHANCEMENT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20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6967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200000"/>
                        </a:lnSpc>
                        <a:spcAft>
                          <a:spcPts val="0"/>
                        </a:spcAft>
                        <a:tabLst>
                          <a:tab pos="1245235" algn="l"/>
                        </a:tabLs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REFERENCES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kumimoji="0" lang="en-IN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T="45725" marB="4572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91532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n open toilet door">
            <a:extLst>
              <a:ext uri="{FF2B5EF4-FFF2-40B4-BE49-F238E27FC236}">
                <a16:creationId xmlns:a16="http://schemas.microsoft.com/office/drawing/2014/main" id="{8857D9E0-CAB1-C777-0D2C-7CE9927006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81" r="23010" b="5625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E66702-8931-359F-3D85-7821FDE78ADC}"/>
              </a:ext>
            </a:extLst>
          </p:cNvPr>
          <p:cNvSpPr txBox="1"/>
          <p:nvPr/>
        </p:nvSpPr>
        <p:spPr>
          <a:xfrm>
            <a:off x="477980" y="1122363"/>
            <a:ext cx="4496355" cy="320413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GUARDED LATCH</a:t>
            </a:r>
          </a:p>
        </p:txBody>
      </p:sp>
    </p:spTree>
    <p:extLst>
      <p:ext uri="{BB962C8B-B14F-4D97-AF65-F5344CB8AC3E}">
        <p14:creationId xmlns:p14="http://schemas.microsoft.com/office/powerpoint/2010/main" val="177561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D206F6-07BE-5708-79DE-4A1D63027192}"/>
              </a:ext>
            </a:extLst>
          </p:cNvPr>
          <p:cNvSpPr txBox="1"/>
          <p:nvPr/>
        </p:nvSpPr>
        <p:spPr>
          <a:xfrm>
            <a:off x="3601847" y="-109630"/>
            <a:ext cx="4485861" cy="1088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Times New Roman"/>
                <a:ea typeface="+mj-ea"/>
                <a:cs typeface="Times New Roman"/>
              </a:rPr>
              <a:t>TITLE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0DCCA3-6941-3D2B-95EF-F70451EB8F8B}"/>
              </a:ext>
            </a:extLst>
          </p:cNvPr>
          <p:cNvSpPr txBox="1"/>
          <p:nvPr/>
        </p:nvSpPr>
        <p:spPr>
          <a:xfrm>
            <a:off x="466529" y="1748744"/>
            <a:ext cx="9778483" cy="358444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 lock that can fit in any door or locker room.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4572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door has 2 levels of security to access.	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     1). Keypad Lock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2). RFID Lock</a:t>
            </a:r>
          </a:p>
        </p:txBody>
      </p:sp>
    </p:spTree>
    <p:extLst>
      <p:ext uri="{BB962C8B-B14F-4D97-AF65-F5344CB8AC3E}">
        <p14:creationId xmlns:p14="http://schemas.microsoft.com/office/powerpoint/2010/main" val="2414121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DDA4D8-3D46-7EF0-AD70-BF60F3C68F71}"/>
              </a:ext>
            </a:extLst>
          </p:cNvPr>
          <p:cNvSpPr txBox="1"/>
          <p:nvPr/>
        </p:nvSpPr>
        <p:spPr>
          <a:xfrm>
            <a:off x="1978090" y="298579"/>
            <a:ext cx="68486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Definition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A0C13-9510-BFB3-1230-B49134E608CB}"/>
              </a:ext>
            </a:extLst>
          </p:cNvPr>
          <p:cNvSpPr txBox="1"/>
          <p:nvPr/>
        </p:nvSpPr>
        <p:spPr>
          <a:xfrm>
            <a:off x="2248678" y="1810139"/>
            <a:ext cx="828558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electrical and mechanical locking device that opens wirelessly as well as manually with an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authorized user authentication.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596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62E6F2-4151-0578-80F6-F059FDE9BE82}"/>
              </a:ext>
            </a:extLst>
          </p:cNvPr>
          <p:cNvSpPr txBox="1"/>
          <p:nvPr/>
        </p:nvSpPr>
        <p:spPr>
          <a:xfrm>
            <a:off x="2024743" y="410548"/>
            <a:ext cx="6858000" cy="1055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Times New Roman"/>
                <a:ea typeface="+mj-ea"/>
                <a:cs typeface="Times New Roman"/>
              </a:rPr>
              <a:t>Prototype</a:t>
            </a:r>
            <a:r>
              <a:rPr lang="en-US" sz="4400" b="1" dirty="0">
                <a:latin typeface="Times New Roman"/>
                <a:ea typeface="+mj-ea"/>
                <a:cs typeface="Times New Roman"/>
              </a:rPr>
              <a:t>  </a:t>
            </a:r>
            <a:r>
              <a:rPr lang="en-US" sz="4400" dirty="0">
                <a:latin typeface="Times New Roman"/>
                <a:ea typeface="+mj-ea"/>
                <a:cs typeface="Times New Roman"/>
              </a:rPr>
              <a:t>Overview</a:t>
            </a:r>
          </a:p>
          <a:p>
            <a:pPr algn="ctr"/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948D5-1D29-15A0-E3D2-B5BE1292D4C4}"/>
              </a:ext>
            </a:extLst>
          </p:cNvPr>
          <p:cNvSpPr txBox="1"/>
          <p:nvPr/>
        </p:nvSpPr>
        <p:spPr>
          <a:xfrm>
            <a:off x="1045029" y="2099388"/>
            <a:ext cx="929328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 In this project we are using a Keypad lock and a RFID lock  </a:t>
            </a:r>
          </a:p>
          <a:p>
            <a:r>
              <a:rPr lang="en-US" sz="2800" dirty="0">
                <a:latin typeface="+mn-lt"/>
              </a:rPr>
              <a:t>    ,which we need to enter in order to grant the access.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2800" dirty="0">
              <a:latin typeface="+mn-lt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800" dirty="0">
                <a:latin typeface="+mn-lt"/>
              </a:rPr>
              <a:t>We can use this project in our day-to-day routine.</a:t>
            </a:r>
            <a:endParaRPr lang="en-IN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6212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CACC01-CDB4-F18C-7DFE-7C2E14F10143}"/>
              </a:ext>
            </a:extLst>
          </p:cNvPr>
          <p:cNvSpPr txBox="1"/>
          <p:nvPr/>
        </p:nvSpPr>
        <p:spPr>
          <a:xfrm>
            <a:off x="1502228" y="279919"/>
            <a:ext cx="8518850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Times New Roman"/>
                <a:ea typeface="+mj-ea"/>
                <a:cs typeface="Times New Roman"/>
              </a:rPr>
              <a:t>Prototype Components Specification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69498F-1814-0547-091C-F3F9B82722B3}"/>
              </a:ext>
            </a:extLst>
          </p:cNvPr>
          <p:cNvSpPr txBox="1"/>
          <p:nvPr/>
        </p:nvSpPr>
        <p:spPr>
          <a:xfrm>
            <a:off x="550505" y="1395552"/>
            <a:ext cx="851885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/>
                <a:ea typeface="+mj-ea"/>
                <a:cs typeface="Times New Roman"/>
              </a:rPr>
              <a:t>Components For RFID Lock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10862-489D-F993-AB83-8FA9E8FF4074}"/>
              </a:ext>
            </a:extLst>
          </p:cNvPr>
          <p:cNvSpPr txBox="1"/>
          <p:nvPr/>
        </p:nvSpPr>
        <p:spPr>
          <a:xfrm>
            <a:off x="2258008" y="2489326"/>
            <a:ext cx="66993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RFID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Arduino Nano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12v Solenoid Lock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Relay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LCD display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Jumper wires</a:t>
            </a:r>
          </a:p>
        </p:txBody>
      </p:sp>
    </p:spTree>
    <p:extLst>
      <p:ext uri="{BB962C8B-B14F-4D97-AF65-F5344CB8AC3E}">
        <p14:creationId xmlns:p14="http://schemas.microsoft.com/office/powerpoint/2010/main" val="3517474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7918F1-8AEE-4D3B-0EE6-9D50E38427A5}"/>
              </a:ext>
            </a:extLst>
          </p:cNvPr>
          <p:cNvSpPr txBox="1"/>
          <p:nvPr/>
        </p:nvSpPr>
        <p:spPr>
          <a:xfrm>
            <a:off x="783771" y="1327677"/>
            <a:ext cx="8518850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3600" dirty="0">
                <a:latin typeface="Times New Roman"/>
                <a:ea typeface="+mj-ea"/>
                <a:cs typeface="Times New Roman"/>
              </a:rPr>
              <a:t>Components For Keypad Lock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C73C48-81EE-2C42-0644-5C75E00C7D69}"/>
              </a:ext>
            </a:extLst>
          </p:cNvPr>
          <p:cNvSpPr txBox="1"/>
          <p:nvPr/>
        </p:nvSpPr>
        <p:spPr>
          <a:xfrm>
            <a:off x="2258008" y="2489326"/>
            <a:ext cx="66993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Keypad Lock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Arduino Nano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12v Solenoid Lock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Relay Module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LCD display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Jumper wires</a:t>
            </a:r>
          </a:p>
        </p:txBody>
      </p:sp>
    </p:spTree>
    <p:extLst>
      <p:ext uri="{BB962C8B-B14F-4D97-AF65-F5344CB8AC3E}">
        <p14:creationId xmlns:p14="http://schemas.microsoft.com/office/powerpoint/2010/main" val="1402624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09530A-590B-CF51-8AE4-2429B28CBDF1}"/>
              </a:ext>
            </a:extLst>
          </p:cNvPr>
          <p:cNvSpPr txBox="1"/>
          <p:nvPr/>
        </p:nvSpPr>
        <p:spPr>
          <a:xfrm>
            <a:off x="2125824" y="46653"/>
            <a:ext cx="7940352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Times New Roman"/>
                <a:ea typeface="+mj-ea"/>
                <a:cs typeface="Times New Roman"/>
              </a:rPr>
              <a:t>Prototype Block Circuit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2C0B28-7006-09D7-B3B6-65C2A9ADC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253204" y="-905849"/>
            <a:ext cx="3685592" cy="835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587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4900B9-3AC6-E026-F8DA-069E0030DA73}"/>
              </a:ext>
            </a:extLst>
          </p:cNvPr>
          <p:cNvSpPr txBox="1"/>
          <p:nvPr/>
        </p:nvSpPr>
        <p:spPr>
          <a:xfrm>
            <a:off x="2125824" y="-96975"/>
            <a:ext cx="7940352" cy="2002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sz="4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Prototype Hardware Components Assembled Labelled Display </a:t>
            </a:r>
            <a:endParaRPr lang="en-IN" sz="4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EF6BEE-24C7-276D-4831-10ACD94DC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541769" y="304046"/>
            <a:ext cx="4803662" cy="80056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F87D33-1BFF-25C4-D7E9-DFCC027B0B6A}"/>
              </a:ext>
            </a:extLst>
          </p:cNvPr>
          <p:cNvSpPr txBox="1"/>
          <p:nvPr/>
        </p:nvSpPr>
        <p:spPr>
          <a:xfrm>
            <a:off x="2303105" y="2295330"/>
            <a:ext cx="1083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Solenoid Lock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5AD71-5B6D-2142-705C-69395DE236F4}"/>
              </a:ext>
            </a:extLst>
          </p:cNvPr>
          <p:cNvSpPr txBox="1"/>
          <p:nvPr/>
        </p:nvSpPr>
        <p:spPr>
          <a:xfrm>
            <a:off x="6124769" y="1972165"/>
            <a:ext cx="1083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RFID Module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888B07-0D60-92F3-516A-B73B63BE4740}"/>
              </a:ext>
            </a:extLst>
          </p:cNvPr>
          <p:cNvSpPr txBox="1"/>
          <p:nvPr/>
        </p:nvSpPr>
        <p:spPr>
          <a:xfrm>
            <a:off x="8035601" y="2177438"/>
            <a:ext cx="1083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Keypad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BB5EE1-04D9-7BE2-9717-CE652436F831}"/>
              </a:ext>
            </a:extLst>
          </p:cNvPr>
          <p:cNvSpPr txBox="1"/>
          <p:nvPr/>
        </p:nvSpPr>
        <p:spPr>
          <a:xfrm>
            <a:off x="2787521" y="4578125"/>
            <a:ext cx="1083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Relay Module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4B03FE-5805-D298-6101-986505719108}"/>
              </a:ext>
            </a:extLst>
          </p:cNvPr>
          <p:cNvSpPr txBox="1"/>
          <p:nvPr/>
        </p:nvSpPr>
        <p:spPr>
          <a:xfrm>
            <a:off x="5012093" y="3983712"/>
            <a:ext cx="1083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LCD display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D9BE65-80FA-0979-3967-E0F6BD26E1EE}"/>
              </a:ext>
            </a:extLst>
          </p:cNvPr>
          <p:cNvSpPr txBox="1"/>
          <p:nvPr/>
        </p:nvSpPr>
        <p:spPr>
          <a:xfrm>
            <a:off x="8890905" y="5022588"/>
            <a:ext cx="1083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Arduino Nano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7514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31166-3484-08E7-D3CC-CD56977451B8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77320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Prototype Code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9C08C-A281-A424-8377-F893BF03B846}"/>
              </a:ext>
            </a:extLst>
          </p:cNvPr>
          <p:cNvSpPr txBox="1"/>
          <p:nvPr/>
        </p:nvSpPr>
        <p:spPr>
          <a:xfrm>
            <a:off x="111967" y="773209"/>
            <a:ext cx="591871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#include &lt;</a:t>
            </a:r>
            <a:r>
              <a:rPr lang="en-IN" dirty="0" err="1"/>
              <a:t>SPI.h</a:t>
            </a:r>
            <a:r>
              <a:rPr lang="en-IN" dirty="0"/>
              <a:t>&gt;</a:t>
            </a:r>
          </a:p>
          <a:p>
            <a:r>
              <a:rPr lang="en-IN" dirty="0"/>
              <a:t>#include &lt;MFRC522.h&gt;</a:t>
            </a:r>
          </a:p>
          <a:p>
            <a:r>
              <a:rPr lang="en-IN" dirty="0"/>
              <a:t>// #include &lt;</a:t>
            </a:r>
            <a:r>
              <a:rPr lang="en-IN" dirty="0" err="1"/>
              <a:t>LiquidCrystal.h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Keypad.h</a:t>
            </a:r>
            <a:r>
              <a:rPr lang="en-IN" dirty="0"/>
              <a:t>&gt; </a:t>
            </a:r>
          </a:p>
          <a:p>
            <a:r>
              <a:rPr lang="en-IN" dirty="0"/>
              <a:t>#include &lt;</a:t>
            </a:r>
            <a:r>
              <a:rPr lang="en-IN" dirty="0" err="1"/>
              <a:t>EEPROM.h</a:t>
            </a:r>
            <a:r>
              <a:rPr lang="en-IN" dirty="0"/>
              <a:t>&gt;</a:t>
            </a:r>
          </a:p>
          <a:p>
            <a:r>
              <a:rPr lang="en-IN" dirty="0"/>
              <a:t>#include &lt;</a:t>
            </a:r>
            <a:r>
              <a:rPr lang="en-IN" dirty="0" err="1"/>
              <a:t>Wire.h</a:t>
            </a:r>
            <a:r>
              <a:rPr lang="en-IN" dirty="0"/>
              <a:t>&gt;</a:t>
            </a:r>
          </a:p>
          <a:p>
            <a:r>
              <a:rPr lang="en-IN" dirty="0"/>
              <a:t>#include &lt;LiquidCrystal_I2C.h&gt;</a:t>
            </a:r>
          </a:p>
          <a:p>
            <a:r>
              <a:rPr lang="en-IN" dirty="0"/>
              <a:t>LiquidCrystal_I2C lcd(0x26, 16, 2);</a:t>
            </a:r>
          </a:p>
          <a:p>
            <a:r>
              <a:rPr lang="en-IN" dirty="0"/>
              <a:t> #define SS_PIN 10</a:t>
            </a:r>
          </a:p>
          <a:p>
            <a:r>
              <a:rPr lang="en-IN" dirty="0"/>
              <a:t>#define RST_PIN 9MFRC522 </a:t>
            </a:r>
            <a:r>
              <a:rPr lang="en-IN" dirty="0" err="1"/>
              <a:t>rfid</a:t>
            </a:r>
            <a:r>
              <a:rPr lang="en-IN" dirty="0"/>
              <a:t>(SS_PIN, RST_PIN);</a:t>
            </a:r>
          </a:p>
          <a:p>
            <a:r>
              <a:rPr lang="en-IN" dirty="0"/>
              <a:t> // Instance of the classMFRC522::</a:t>
            </a:r>
          </a:p>
          <a:p>
            <a:r>
              <a:rPr lang="en-IN" dirty="0" err="1"/>
              <a:t>MIFARE_Key</a:t>
            </a:r>
            <a:r>
              <a:rPr lang="en-IN" dirty="0"/>
              <a:t> </a:t>
            </a:r>
            <a:r>
              <a:rPr lang="en-IN" dirty="0" err="1"/>
              <a:t>mkey</a:t>
            </a:r>
            <a:r>
              <a:rPr lang="en-IN" dirty="0"/>
              <a:t>;</a:t>
            </a:r>
          </a:p>
          <a:p>
            <a:r>
              <a:rPr lang="en-IN" dirty="0"/>
              <a:t> char d,d1,d2,d3,d10,d11,d12,d13;</a:t>
            </a:r>
          </a:p>
          <a:p>
            <a:r>
              <a:rPr lang="en-IN" dirty="0"/>
              <a:t>int </a:t>
            </a:r>
            <a:r>
              <a:rPr lang="en-IN" dirty="0" err="1"/>
              <a:t>c,cpa,tag;bool</a:t>
            </a:r>
            <a:r>
              <a:rPr lang="en-IN" dirty="0"/>
              <a:t> </a:t>
            </a:r>
            <a:r>
              <a:rPr lang="en-IN" dirty="0" err="1"/>
              <a:t>cp,np,ok,m</a:t>
            </a:r>
            <a:r>
              <a:rPr lang="en-IN" dirty="0"/>
              <a:t>;</a:t>
            </a:r>
          </a:p>
          <a:p>
            <a:r>
              <a:rPr lang="en-IN" dirty="0"/>
              <a:t>// Init array that will store new NUID byte </a:t>
            </a:r>
            <a:r>
              <a:rPr lang="en-IN" dirty="0" err="1"/>
              <a:t>nuidPICC</a:t>
            </a:r>
            <a:r>
              <a:rPr lang="en-IN" dirty="0"/>
              <a:t>[4]; </a:t>
            </a:r>
          </a:p>
          <a:p>
            <a:r>
              <a:rPr lang="en-IN" dirty="0"/>
              <a:t>//-------keypad setting-----------------</a:t>
            </a:r>
            <a:r>
              <a:rPr lang="en-IN" dirty="0" err="1"/>
              <a:t>const</a:t>
            </a:r>
            <a:r>
              <a:rPr lang="en-IN" dirty="0"/>
              <a:t> byte rows[4] = {A3, 2, 3, 4};</a:t>
            </a:r>
          </a:p>
          <a:p>
            <a:r>
              <a:rPr lang="en-IN" dirty="0"/>
              <a:t>//connect to the row pinouts of the </a:t>
            </a:r>
            <a:r>
              <a:rPr lang="en-IN" dirty="0" err="1"/>
              <a:t>keypadconst</a:t>
            </a:r>
            <a:r>
              <a:rPr lang="en-IN" dirty="0"/>
              <a:t> byte cols[4] = {5, 6, 7, 8}; //connect to the column pinouts of the keypad  char keys[4][4] = { //create 2D </a:t>
            </a:r>
            <a:r>
              <a:rPr lang="en-IN" dirty="0" err="1"/>
              <a:t>arry</a:t>
            </a:r>
            <a:r>
              <a:rPr lang="en-IN" dirty="0"/>
              <a:t> for keys  {'D', 'C', 'B', 'A'},  {'#', '9', '6', '3'},  {'0', '8', '5', '2'},  {'*', '7', '4', '1'},};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E1A9F-7D32-482A-77F2-D8E067026F5F}"/>
              </a:ext>
            </a:extLst>
          </p:cNvPr>
          <p:cNvSpPr txBox="1"/>
          <p:nvPr/>
        </p:nvSpPr>
        <p:spPr>
          <a:xfrm>
            <a:off x="6161317" y="773209"/>
            <a:ext cx="591871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Keypad </a:t>
            </a:r>
            <a:r>
              <a:rPr lang="en-IN" dirty="0" err="1"/>
              <a:t>mykeypad</a:t>
            </a:r>
            <a:r>
              <a:rPr lang="en-IN" dirty="0"/>
              <a:t> = Keypad(</a:t>
            </a:r>
            <a:r>
              <a:rPr lang="en-IN" dirty="0" err="1"/>
              <a:t>makeKeymap</a:t>
            </a:r>
            <a:r>
              <a:rPr lang="en-IN" dirty="0"/>
              <a:t>(keys), rows, cols, 4, 4);</a:t>
            </a:r>
          </a:p>
          <a:p>
            <a:r>
              <a:rPr lang="en-IN" dirty="0"/>
              <a:t>//-------------lcd function declaration---------------------</a:t>
            </a:r>
          </a:p>
          <a:p>
            <a:r>
              <a:rPr lang="en-IN" dirty="0"/>
              <a:t>void setup() {   </a:t>
            </a:r>
            <a:r>
              <a:rPr lang="en-IN" dirty="0" err="1"/>
              <a:t>Serial.begin</a:t>
            </a:r>
            <a:r>
              <a:rPr lang="en-IN" dirty="0"/>
              <a:t>(9600);    </a:t>
            </a:r>
            <a:r>
              <a:rPr lang="en-IN" dirty="0" err="1"/>
              <a:t>pinMode</a:t>
            </a:r>
            <a:r>
              <a:rPr lang="en-IN" dirty="0"/>
              <a:t>(14, OUTPUT);     </a:t>
            </a:r>
          </a:p>
          <a:p>
            <a:r>
              <a:rPr lang="en-IN" dirty="0"/>
              <a:t>  </a:t>
            </a:r>
            <a:r>
              <a:rPr lang="en-IN" dirty="0" err="1"/>
              <a:t>lcd.begin</a:t>
            </a:r>
            <a:r>
              <a:rPr lang="en-IN" dirty="0"/>
              <a:t>();  </a:t>
            </a:r>
            <a:r>
              <a:rPr lang="en-IN" dirty="0" err="1"/>
              <a:t>lcd.backlight</a:t>
            </a:r>
            <a:r>
              <a:rPr lang="en-IN" dirty="0"/>
              <a:t>(); </a:t>
            </a:r>
          </a:p>
          <a:p>
            <a:r>
              <a:rPr lang="en-IN" dirty="0"/>
              <a:t> </a:t>
            </a:r>
            <a:r>
              <a:rPr lang="en-IN" dirty="0" err="1"/>
              <a:t>lcd.print</a:t>
            </a:r>
            <a:r>
              <a:rPr lang="en-IN" dirty="0"/>
              <a:t>("SCAN YOUR ID TAG");  </a:t>
            </a:r>
          </a:p>
          <a:p>
            <a:r>
              <a:rPr lang="en-IN" dirty="0" err="1"/>
              <a:t>lcd.setCursor</a:t>
            </a:r>
            <a:r>
              <a:rPr lang="en-IN" dirty="0"/>
              <a:t>(0, 1);    </a:t>
            </a:r>
            <a:r>
              <a:rPr lang="en-IN" dirty="0" err="1"/>
              <a:t>SPI.begin</a:t>
            </a:r>
            <a:r>
              <a:rPr lang="en-IN" dirty="0"/>
              <a:t>();</a:t>
            </a:r>
          </a:p>
          <a:p>
            <a:r>
              <a:rPr lang="en-IN" dirty="0"/>
              <a:t> // Init SPI bus  </a:t>
            </a:r>
            <a:r>
              <a:rPr lang="en-IN" dirty="0" err="1"/>
              <a:t>rfid.PCD_Init</a:t>
            </a:r>
            <a:r>
              <a:rPr lang="en-IN" dirty="0"/>
              <a:t>(); </a:t>
            </a:r>
          </a:p>
          <a:p>
            <a:r>
              <a:rPr lang="en-IN" dirty="0"/>
              <a:t>// Init MFRC522   for (byte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6; </a:t>
            </a:r>
            <a:r>
              <a:rPr lang="en-IN" dirty="0" err="1"/>
              <a:t>i</a:t>
            </a:r>
            <a:r>
              <a:rPr lang="en-IN" dirty="0"/>
              <a:t>++) {    </a:t>
            </a:r>
            <a:r>
              <a:rPr lang="en-IN" dirty="0" err="1"/>
              <a:t>mkey.keyByte</a:t>
            </a:r>
            <a:r>
              <a:rPr lang="en-IN" dirty="0"/>
              <a:t>[</a:t>
            </a:r>
            <a:r>
              <a:rPr lang="en-IN" dirty="0" err="1"/>
              <a:t>i</a:t>
            </a:r>
            <a:r>
              <a:rPr lang="en-IN" dirty="0"/>
              <a:t>] = 0xFF;  } </a:t>
            </a:r>
            <a:r>
              <a:rPr lang="en-IN" dirty="0" err="1"/>
              <a:t>Serial.println</a:t>
            </a:r>
            <a:r>
              <a:rPr lang="en-IN" dirty="0"/>
              <a:t>(F("This code scan the MIFARE </a:t>
            </a:r>
            <a:r>
              <a:rPr lang="en-IN" dirty="0" err="1"/>
              <a:t>Classsic</a:t>
            </a:r>
            <a:r>
              <a:rPr lang="en-IN" dirty="0"/>
              <a:t> NUID."));</a:t>
            </a:r>
          </a:p>
          <a:p>
            <a:r>
              <a:rPr lang="en-IN" dirty="0"/>
              <a:t> //--set def pass if(</a:t>
            </a:r>
            <a:r>
              <a:rPr lang="en-IN" dirty="0" err="1"/>
              <a:t>EEPROM.read</a:t>
            </a:r>
            <a:r>
              <a:rPr lang="en-IN" dirty="0"/>
              <a:t>(0)&gt;1|EEPROM.read(0)&lt;1){  </a:t>
            </a:r>
            <a:r>
              <a:rPr lang="en-IN" dirty="0" err="1"/>
              <a:t>EEPROM.update</a:t>
            </a:r>
            <a:r>
              <a:rPr lang="en-IN" dirty="0"/>
              <a:t>(0, 1);    </a:t>
            </a:r>
          </a:p>
          <a:p>
            <a:r>
              <a:rPr lang="en-IN" dirty="0"/>
              <a:t> </a:t>
            </a:r>
            <a:r>
              <a:rPr lang="en-IN" dirty="0" err="1"/>
              <a:t>EEPROM.update</a:t>
            </a:r>
            <a:r>
              <a:rPr lang="en-IN" dirty="0"/>
              <a:t>(1, '1');   </a:t>
            </a:r>
          </a:p>
          <a:p>
            <a:r>
              <a:rPr lang="en-IN" dirty="0"/>
              <a:t> </a:t>
            </a:r>
            <a:r>
              <a:rPr lang="en-IN" dirty="0" err="1"/>
              <a:t>EEPROM.update</a:t>
            </a:r>
            <a:r>
              <a:rPr lang="en-IN" dirty="0"/>
              <a:t>(2, '2');   </a:t>
            </a:r>
          </a:p>
          <a:p>
            <a:r>
              <a:rPr lang="en-IN" dirty="0"/>
              <a:t> </a:t>
            </a:r>
            <a:r>
              <a:rPr lang="en-IN" dirty="0" err="1"/>
              <a:t>EEPROM.update</a:t>
            </a:r>
            <a:r>
              <a:rPr lang="en-IN" dirty="0"/>
              <a:t>(3, '3');   </a:t>
            </a:r>
          </a:p>
          <a:p>
            <a:r>
              <a:rPr lang="en-IN" dirty="0"/>
              <a:t> </a:t>
            </a:r>
            <a:r>
              <a:rPr lang="en-IN" dirty="0" err="1"/>
              <a:t>EEPROM.update</a:t>
            </a:r>
            <a:r>
              <a:rPr lang="en-IN" dirty="0"/>
              <a:t>(4, '4');  }  </a:t>
            </a:r>
          </a:p>
          <a:p>
            <a:r>
              <a:rPr lang="en-IN" dirty="0"/>
              <a:t>d= </a:t>
            </a:r>
            <a:r>
              <a:rPr lang="en-IN" dirty="0" err="1"/>
              <a:t>EEPROM.read</a:t>
            </a:r>
            <a:r>
              <a:rPr lang="en-IN" dirty="0"/>
              <a:t>(1);d1= </a:t>
            </a:r>
            <a:r>
              <a:rPr lang="en-IN" dirty="0" err="1"/>
              <a:t>EEPROM.read</a:t>
            </a:r>
            <a:r>
              <a:rPr lang="en-IN" dirty="0"/>
              <a:t>(2);d2= </a:t>
            </a:r>
            <a:r>
              <a:rPr lang="en-IN" dirty="0" err="1"/>
              <a:t>EEPROM.read</a:t>
            </a:r>
            <a:r>
              <a:rPr lang="en-IN" dirty="0"/>
              <a:t>(3);d3= </a:t>
            </a:r>
            <a:r>
              <a:rPr lang="en-IN" dirty="0" err="1"/>
              <a:t>EEPROM.read</a:t>
            </a:r>
            <a:r>
              <a:rPr lang="en-IN" dirty="0"/>
              <a:t>(4); }</a:t>
            </a:r>
          </a:p>
        </p:txBody>
      </p:sp>
    </p:spTree>
    <p:extLst>
      <p:ext uri="{BB962C8B-B14F-4D97-AF65-F5344CB8AC3E}">
        <p14:creationId xmlns:p14="http://schemas.microsoft.com/office/powerpoint/2010/main" val="4117430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33C35F-C827-4592-5CF8-7664261262BB}"/>
              </a:ext>
            </a:extLst>
          </p:cNvPr>
          <p:cNvSpPr txBox="1"/>
          <p:nvPr/>
        </p:nvSpPr>
        <p:spPr>
          <a:xfrm>
            <a:off x="0" y="0"/>
            <a:ext cx="5918718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void loop() </a:t>
            </a:r>
          </a:p>
          <a:p>
            <a:r>
              <a:rPr lang="en-IN" dirty="0"/>
              <a:t>{//--------------------------keypad sec code----------------------char k = </a:t>
            </a:r>
            <a:r>
              <a:rPr lang="en-IN" dirty="0" err="1"/>
              <a:t>mykeypad.getKey</a:t>
            </a:r>
            <a:r>
              <a:rPr lang="en-IN" dirty="0"/>
              <a:t>(); </a:t>
            </a:r>
          </a:p>
          <a:p>
            <a:r>
              <a:rPr lang="en-IN" dirty="0"/>
              <a:t>  if (k){    </a:t>
            </a:r>
            <a:r>
              <a:rPr lang="en-IN" dirty="0" err="1"/>
              <a:t>c++</a:t>
            </a:r>
            <a:r>
              <a:rPr lang="en-IN" dirty="0"/>
              <a:t>;       </a:t>
            </a:r>
            <a:r>
              <a:rPr lang="en-IN" dirty="0" err="1"/>
              <a:t>Serial.println</a:t>
            </a:r>
            <a:r>
              <a:rPr lang="en-IN" dirty="0"/>
              <a:t>(k);        </a:t>
            </a:r>
          </a:p>
          <a:p>
            <a:r>
              <a:rPr lang="en-IN" dirty="0"/>
              <a:t> </a:t>
            </a:r>
            <a:r>
              <a:rPr lang="en-IN" dirty="0" err="1"/>
              <a:t>lcd.print</a:t>
            </a:r>
            <a:r>
              <a:rPr lang="en-IN" dirty="0"/>
              <a:t>("*");    </a:t>
            </a:r>
          </a:p>
          <a:p>
            <a:r>
              <a:rPr lang="en-IN" dirty="0"/>
              <a:t> if(c==1)</a:t>
            </a:r>
          </a:p>
          <a:p>
            <a:r>
              <a:rPr lang="en-IN" dirty="0"/>
              <a:t>{      d10=k;      }    </a:t>
            </a:r>
          </a:p>
          <a:p>
            <a:r>
              <a:rPr lang="en-IN" dirty="0"/>
              <a:t>  if(c==2)</a:t>
            </a:r>
          </a:p>
          <a:p>
            <a:r>
              <a:rPr lang="en-IN" dirty="0"/>
              <a:t>{      d11=k;      }    </a:t>
            </a:r>
          </a:p>
          <a:p>
            <a:r>
              <a:rPr lang="en-IN" dirty="0"/>
              <a:t>   if(c==3){      d12=k;      }</a:t>
            </a:r>
          </a:p>
          <a:p>
            <a:r>
              <a:rPr lang="en-IN" dirty="0"/>
              <a:t>       if(c==4){      d13=k;            }  } </a:t>
            </a:r>
          </a:p>
          <a:p>
            <a:r>
              <a:rPr lang="en-IN" dirty="0"/>
              <a:t> if (k=='#'){m=c=cp=np=tag=0;  </a:t>
            </a:r>
            <a:r>
              <a:rPr lang="en-IN" dirty="0" err="1"/>
              <a:t>lcd.clear</a:t>
            </a:r>
            <a:r>
              <a:rPr lang="en-IN" dirty="0"/>
              <a:t>();  </a:t>
            </a:r>
            <a:r>
              <a:rPr lang="en-IN" dirty="0" err="1"/>
              <a:t>lcd.print</a:t>
            </a:r>
            <a:r>
              <a:rPr lang="en-IN" dirty="0"/>
              <a:t>("SCAN YOUR ID TAG");} </a:t>
            </a:r>
          </a:p>
          <a:p>
            <a:r>
              <a:rPr lang="en-IN" dirty="0"/>
              <a:t>   if(c==4&amp;np==0)</a:t>
            </a:r>
          </a:p>
          <a:p>
            <a:r>
              <a:rPr lang="en-IN" dirty="0"/>
              <a:t>{    c=0;   if(d10=='*'&amp;d11=='0'&amp;d12=='0'){    m=1;    </a:t>
            </a:r>
            <a:r>
              <a:rPr lang="en-IN" dirty="0" err="1"/>
              <a:t>lcd.clear</a:t>
            </a:r>
            <a:r>
              <a:rPr lang="en-IN" dirty="0"/>
              <a:t>();  </a:t>
            </a:r>
          </a:p>
          <a:p>
            <a:r>
              <a:rPr lang="en-IN" dirty="0" err="1"/>
              <a:t>lcd.print</a:t>
            </a:r>
            <a:r>
              <a:rPr lang="en-IN" dirty="0"/>
              <a:t>("ENTER PASSWORD   ");   </a:t>
            </a:r>
          </a:p>
          <a:p>
            <a:r>
              <a:rPr lang="en-IN" dirty="0"/>
              <a:t> switch(d13)</a:t>
            </a:r>
          </a:p>
          <a:p>
            <a:r>
              <a:rPr lang="en-IN" dirty="0"/>
              <a:t>{        case '0':   </a:t>
            </a:r>
          </a:p>
          <a:p>
            <a:r>
              <a:rPr lang="en-IN" dirty="0"/>
              <a:t>   cp=1;              </a:t>
            </a:r>
          </a:p>
          <a:p>
            <a:r>
              <a:rPr lang="en-IN" dirty="0"/>
              <a:t>break;        </a:t>
            </a:r>
          </a:p>
          <a:p>
            <a:r>
              <a:rPr lang="en-IN" dirty="0"/>
              <a:t>case '1':               </a:t>
            </a:r>
          </a:p>
          <a:p>
            <a:r>
              <a:rPr lang="en-IN" dirty="0"/>
              <a:t> tag=1;      </a:t>
            </a:r>
          </a:p>
          <a:p>
            <a:r>
              <a:rPr lang="en-IN" dirty="0"/>
              <a:t>break;       </a:t>
            </a:r>
          </a:p>
          <a:p>
            <a:r>
              <a:rPr lang="en-IN" dirty="0"/>
              <a:t>case '2':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281A91-A772-D81D-4314-A39F67BA6C62}"/>
              </a:ext>
            </a:extLst>
          </p:cNvPr>
          <p:cNvSpPr txBox="1"/>
          <p:nvPr/>
        </p:nvSpPr>
        <p:spPr>
          <a:xfrm>
            <a:off x="5918718" y="0"/>
            <a:ext cx="591871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tag=2;     </a:t>
            </a:r>
          </a:p>
          <a:p>
            <a:r>
              <a:rPr lang="en-IN" dirty="0"/>
              <a:t> break;       </a:t>
            </a:r>
          </a:p>
          <a:p>
            <a:r>
              <a:rPr lang="en-IN" dirty="0"/>
              <a:t>case '3':      </a:t>
            </a:r>
          </a:p>
          <a:p>
            <a:r>
              <a:rPr lang="en-IN" dirty="0"/>
              <a:t>tag=3;      </a:t>
            </a:r>
          </a:p>
          <a:p>
            <a:r>
              <a:rPr lang="en-IN" dirty="0"/>
              <a:t>break;     </a:t>
            </a:r>
          </a:p>
          <a:p>
            <a:r>
              <a:rPr lang="en-IN" dirty="0"/>
              <a:t>  case '4':   </a:t>
            </a:r>
          </a:p>
          <a:p>
            <a:r>
              <a:rPr lang="en-IN" dirty="0"/>
              <a:t>   tag=4;    </a:t>
            </a:r>
          </a:p>
          <a:p>
            <a:r>
              <a:rPr lang="en-IN" dirty="0"/>
              <a:t>  break;    </a:t>
            </a:r>
          </a:p>
          <a:p>
            <a:r>
              <a:rPr lang="en-IN" dirty="0"/>
              <a:t>   case '5’:</a:t>
            </a:r>
          </a:p>
          <a:p>
            <a:r>
              <a:rPr lang="en-IN" dirty="0"/>
              <a:t>      tag=5;    </a:t>
            </a:r>
          </a:p>
          <a:p>
            <a:r>
              <a:rPr lang="en-IN" dirty="0"/>
              <a:t>  break;; </a:t>
            </a:r>
          </a:p>
          <a:p>
            <a:r>
              <a:rPr lang="en-IN" dirty="0"/>
              <a:t>}    d10=d11=d12=d13=0;    }   if(d==d10&amp;d1==d11&amp;d2==d12&amp;d3==d13){    if(cp==0&amp;m==0)</a:t>
            </a:r>
          </a:p>
          <a:p>
            <a:r>
              <a:rPr lang="en-IN" dirty="0"/>
              <a:t>{    </a:t>
            </a:r>
            <a:r>
              <a:rPr lang="en-IN" dirty="0" err="1"/>
              <a:t>lcd.setCursor</a:t>
            </a:r>
            <a:r>
              <a:rPr lang="en-IN" dirty="0"/>
              <a:t>(0, 1);   </a:t>
            </a:r>
          </a:p>
          <a:p>
            <a:r>
              <a:rPr lang="en-IN" dirty="0"/>
              <a:t>  </a:t>
            </a:r>
            <a:r>
              <a:rPr lang="en-IN" dirty="0" err="1"/>
              <a:t>lcd.print</a:t>
            </a:r>
            <a:r>
              <a:rPr lang="en-IN" dirty="0"/>
              <a:t>("PASSWORD ACCEPTED");    </a:t>
            </a:r>
            <a:r>
              <a:rPr lang="en-IN" dirty="0" err="1"/>
              <a:t>digitalWrite</a:t>
            </a:r>
            <a:r>
              <a:rPr lang="en-IN" dirty="0"/>
              <a:t>(14,HIGH);    </a:t>
            </a:r>
          </a:p>
          <a:p>
            <a:r>
              <a:rPr lang="en-IN" dirty="0"/>
              <a:t> delay(3000);    </a:t>
            </a:r>
          </a:p>
          <a:p>
            <a:r>
              <a:rPr lang="en-IN" dirty="0"/>
              <a:t>  </a:t>
            </a:r>
            <a:r>
              <a:rPr lang="en-IN" dirty="0" err="1"/>
              <a:t>digitalWrite</a:t>
            </a:r>
            <a:r>
              <a:rPr lang="en-IN" dirty="0"/>
              <a:t>(14,LOW);     </a:t>
            </a:r>
          </a:p>
          <a:p>
            <a:r>
              <a:rPr lang="en-IN" dirty="0"/>
              <a:t>d10=d11=d12=d13=0;  </a:t>
            </a:r>
          </a:p>
          <a:p>
            <a:r>
              <a:rPr lang="en-IN" dirty="0"/>
              <a:t> </a:t>
            </a:r>
            <a:r>
              <a:rPr lang="en-IN" dirty="0" err="1"/>
              <a:t>lcd.setCursor</a:t>
            </a:r>
            <a:r>
              <a:rPr lang="en-IN" dirty="0"/>
              <a:t>(0, 1);    </a:t>
            </a:r>
          </a:p>
          <a:p>
            <a:r>
              <a:rPr lang="en-IN" dirty="0"/>
              <a:t> </a:t>
            </a:r>
            <a:r>
              <a:rPr lang="en-IN" dirty="0" err="1"/>
              <a:t>lcd.print</a:t>
            </a:r>
            <a:r>
              <a:rPr lang="en-IN" dirty="0"/>
              <a:t>("                ");    </a:t>
            </a:r>
            <a:r>
              <a:rPr lang="en-IN" dirty="0" err="1"/>
              <a:t>lcd.setCursor</a:t>
            </a:r>
            <a:r>
              <a:rPr lang="en-IN" dirty="0"/>
              <a:t>(0, 1);     }if(cp==1&amp;tag==0){   </a:t>
            </a:r>
            <a:r>
              <a:rPr lang="en-IN" dirty="0" err="1"/>
              <a:t>lcd.clear</a:t>
            </a:r>
            <a:r>
              <a:rPr lang="en-IN" dirty="0"/>
              <a:t>();    </a:t>
            </a:r>
            <a:r>
              <a:rPr lang="en-IN" dirty="0" err="1"/>
              <a:t>lcd.print</a:t>
            </a:r>
            <a:r>
              <a:rPr lang="en-IN" dirty="0"/>
              <a:t>("NEW PASSWORD");    </a:t>
            </a:r>
            <a:r>
              <a:rPr lang="en-IN" dirty="0" err="1"/>
              <a:t>lcd.setCursor</a:t>
            </a:r>
            <a:r>
              <a:rPr lang="en-IN" dirty="0"/>
              <a:t>(0, 1);    np=1;    }</a:t>
            </a:r>
          </a:p>
        </p:txBody>
      </p:sp>
    </p:spTree>
    <p:extLst>
      <p:ext uri="{BB962C8B-B14F-4D97-AF65-F5344CB8AC3E}">
        <p14:creationId xmlns:p14="http://schemas.microsoft.com/office/powerpoint/2010/main" val="3920935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D343F6-2149-8457-EA06-BD998EDF5B44}"/>
              </a:ext>
            </a:extLst>
          </p:cNvPr>
          <p:cNvSpPr txBox="1"/>
          <p:nvPr/>
        </p:nvSpPr>
        <p:spPr>
          <a:xfrm>
            <a:off x="177282" y="177225"/>
            <a:ext cx="591871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if(tag&gt;0)</a:t>
            </a:r>
          </a:p>
          <a:p>
            <a:r>
              <a:rPr lang="en-IN" dirty="0"/>
              <a:t>{                </a:t>
            </a:r>
            <a:r>
              <a:rPr lang="en-IN" dirty="0" err="1"/>
              <a:t>lcd.clear</a:t>
            </a:r>
            <a:r>
              <a:rPr lang="en-IN" dirty="0"/>
              <a:t>();   </a:t>
            </a:r>
          </a:p>
          <a:p>
            <a:r>
              <a:rPr lang="en-IN" dirty="0"/>
              <a:t> </a:t>
            </a:r>
            <a:r>
              <a:rPr lang="en-IN" dirty="0" err="1"/>
              <a:t>lcd.print</a:t>
            </a:r>
            <a:r>
              <a:rPr lang="en-IN" dirty="0"/>
              <a:t>("SCAN ID TAG # ");  </a:t>
            </a:r>
          </a:p>
          <a:p>
            <a:r>
              <a:rPr lang="en-IN" dirty="0"/>
              <a:t> </a:t>
            </a:r>
            <a:r>
              <a:rPr lang="en-IN" dirty="0" err="1"/>
              <a:t>lcd.print</a:t>
            </a:r>
            <a:r>
              <a:rPr lang="en-IN" dirty="0"/>
              <a:t>(tag);    </a:t>
            </a:r>
          </a:p>
          <a:p>
            <a:r>
              <a:rPr lang="en-IN" dirty="0"/>
              <a:t> </a:t>
            </a:r>
            <a:r>
              <a:rPr lang="en-IN" dirty="0" err="1"/>
              <a:t>lcd.setCursor</a:t>
            </a:r>
            <a:r>
              <a:rPr lang="en-IN" dirty="0"/>
              <a:t>(0, 1);        }   m=0; }</a:t>
            </a:r>
          </a:p>
          <a:p>
            <a:r>
              <a:rPr lang="en-IN" dirty="0"/>
              <a:t>else{   if(!m){ </a:t>
            </a:r>
            <a:r>
              <a:rPr lang="en-IN" dirty="0" err="1"/>
              <a:t>lcd.setCursor</a:t>
            </a:r>
            <a:r>
              <a:rPr lang="en-IN" dirty="0"/>
              <a:t>(0, 1);  </a:t>
            </a:r>
          </a:p>
          <a:p>
            <a:r>
              <a:rPr lang="en-IN" dirty="0"/>
              <a:t> </a:t>
            </a:r>
            <a:r>
              <a:rPr lang="en-IN" dirty="0" err="1"/>
              <a:t>lcd.print</a:t>
            </a:r>
            <a:r>
              <a:rPr lang="en-IN" dirty="0"/>
              <a:t>("WRONG PASSWORD");delay(3000);}                 d10=d11=d12=d13=0;  </a:t>
            </a:r>
          </a:p>
          <a:p>
            <a:r>
              <a:rPr lang="en-IN" dirty="0" err="1"/>
              <a:t>lcd.setCursor</a:t>
            </a:r>
            <a:r>
              <a:rPr lang="en-IN" dirty="0"/>
              <a:t>(0, 1);   </a:t>
            </a:r>
          </a:p>
          <a:p>
            <a:r>
              <a:rPr lang="en-IN" dirty="0" err="1"/>
              <a:t>lcd.print</a:t>
            </a:r>
            <a:r>
              <a:rPr lang="en-IN" dirty="0"/>
              <a:t>("                ");   </a:t>
            </a:r>
          </a:p>
          <a:p>
            <a:r>
              <a:rPr lang="en-IN" dirty="0"/>
              <a:t> </a:t>
            </a:r>
            <a:r>
              <a:rPr lang="en-IN" dirty="0" err="1"/>
              <a:t>lcd.setCursor</a:t>
            </a:r>
            <a:r>
              <a:rPr lang="en-IN" dirty="0"/>
              <a:t>(0, 1);            } }          </a:t>
            </a:r>
          </a:p>
          <a:p>
            <a:r>
              <a:rPr lang="en-IN" dirty="0"/>
              <a:t>  if(c==4&amp;np==1)</a:t>
            </a:r>
          </a:p>
          <a:p>
            <a:r>
              <a:rPr lang="en-IN" dirty="0"/>
              <a:t>{   m=0;    d=d10;    d1=d11;    d2=d12;    d3=d13;    </a:t>
            </a:r>
            <a:r>
              <a:rPr lang="en-IN" dirty="0" err="1"/>
              <a:t>EEPROM.update</a:t>
            </a:r>
            <a:r>
              <a:rPr lang="en-IN" dirty="0"/>
              <a:t>(1, d);    </a:t>
            </a:r>
          </a:p>
          <a:p>
            <a:r>
              <a:rPr lang="en-IN" dirty="0" err="1"/>
              <a:t>EEPROM.update</a:t>
            </a:r>
            <a:r>
              <a:rPr lang="en-IN" dirty="0"/>
              <a:t>(2, d1); </a:t>
            </a:r>
          </a:p>
          <a:p>
            <a:r>
              <a:rPr lang="en-IN" dirty="0"/>
              <a:t>   </a:t>
            </a:r>
            <a:r>
              <a:rPr lang="en-IN" dirty="0" err="1"/>
              <a:t>EEPROM.update</a:t>
            </a:r>
            <a:r>
              <a:rPr lang="en-IN" dirty="0"/>
              <a:t>(3, d2);  </a:t>
            </a:r>
          </a:p>
          <a:p>
            <a:r>
              <a:rPr lang="en-IN" dirty="0"/>
              <a:t>  </a:t>
            </a:r>
            <a:r>
              <a:rPr lang="en-IN" dirty="0" err="1"/>
              <a:t>EEPROM.update</a:t>
            </a:r>
            <a:r>
              <a:rPr lang="en-IN" dirty="0"/>
              <a:t>(4, d3);    np=0;    cp=0;    c=0;    d10=d11=d12=d13=0;  </a:t>
            </a:r>
          </a:p>
          <a:p>
            <a:r>
              <a:rPr lang="en-IN" dirty="0"/>
              <a:t> </a:t>
            </a:r>
            <a:r>
              <a:rPr lang="en-IN" dirty="0" err="1"/>
              <a:t>lcd.clear</a:t>
            </a:r>
            <a:r>
              <a:rPr lang="en-IN" dirty="0"/>
              <a:t>();  </a:t>
            </a:r>
          </a:p>
          <a:p>
            <a:r>
              <a:rPr lang="en-IN" dirty="0" err="1"/>
              <a:t>lcd.print</a:t>
            </a:r>
            <a:r>
              <a:rPr lang="en-IN" dirty="0"/>
              <a:t>("SCAN YOUR ID TAG");</a:t>
            </a:r>
          </a:p>
          <a:p>
            <a:r>
              <a:rPr lang="en-IN" dirty="0" err="1"/>
              <a:t>lcd.setCursor</a:t>
            </a:r>
            <a:r>
              <a:rPr lang="en-IN" dirty="0"/>
              <a:t>(0, 1);    }  </a:t>
            </a:r>
          </a:p>
          <a:p>
            <a:r>
              <a:rPr lang="en-IN" dirty="0"/>
              <a:t>//---</a:t>
            </a:r>
            <a:r>
              <a:rPr lang="en-IN" dirty="0" err="1"/>
              <a:t>rfid</a:t>
            </a:r>
            <a:r>
              <a:rPr lang="en-IN" dirty="0"/>
              <a:t>----------------------  </a:t>
            </a:r>
          </a:p>
          <a:p>
            <a:r>
              <a:rPr lang="en-IN" dirty="0"/>
              <a:t>// Reset the loop if no new card present on the sensor/reader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0C8251-36D7-5C38-FF81-7A9BA477904C}"/>
              </a:ext>
            </a:extLst>
          </p:cNvPr>
          <p:cNvSpPr txBox="1"/>
          <p:nvPr/>
        </p:nvSpPr>
        <p:spPr>
          <a:xfrm>
            <a:off x="6096000" y="177224"/>
            <a:ext cx="5918718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. This saves the entire process when idle.</a:t>
            </a:r>
          </a:p>
          <a:p>
            <a:r>
              <a:rPr lang="en-IN" dirty="0"/>
              <a:t>  if ( ! </a:t>
            </a:r>
            <a:r>
              <a:rPr lang="en-IN" dirty="0" err="1"/>
              <a:t>rfid.PICC_IsNewCardPresent</a:t>
            </a:r>
            <a:r>
              <a:rPr lang="en-IN" dirty="0"/>
              <a:t>())    return; </a:t>
            </a:r>
          </a:p>
          <a:p>
            <a:r>
              <a:rPr lang="en-IN" dirty="0"/>
              <a:t> // Verify if the NUID has been </a:t>
            </a:r>
            <a:r>
              <a:rPr lang="en-IN" dirty="0" err="1"/>
              <a:t>readed</a:t>
            </a:r>
            <a:r>
              <a:rPr lang="en-IN" dirty="0"/>
              <a:t> </a:t>
            </a:r>
          </a:p>
          <a:p>
            <a:r>
              <a:rPr lang="en-IN" dirty="0"/>
              <a:t> if ( ! </a:t>
            </a:r>
            <a:r>
              <a:rPr lang="en-IN" dirty="0" err="1"/>
              <a:t>rfid.PICC_ReadCardSerial</a:t>
            </a:r>
            <a:r>
              <a:rPr lang="en-IN" dirty="0"/>
              <a:t>())  </a:t>
            </a:r>
          </a:p>
          <a:p>
            <a:r>
              <a:rPr lang="en-IN" dirty="0"/>
              <a:t>  return;   </a:t>
            </a:r>
          </a:p>
          <a:p>
            <a:r>
              <a:rPr lang="en-IN" dirty="0" err="1"/>
              <a:t>printDec</a:t>
            </a:r>
            <a:r>
              <a:rPr lang="en-IN" dirty="0"/>
              <a:t>(</a:t>
            </a:r>
            <a:r>
              <a:rPr lang="en-IN" dirty="0" err="1"/>
              <a:t>rfid.uid.uidByte</a:t>
            </a:r>
            <a:r>
              <a:rPr lang="en-IN" dirty="0"/>
              <a:t>, </a:t>
            </a:r>
            <a:r>
              <a:rPr lang="en-IN" dirty="0" err="1"/>
              <a:t>rfid.uid.size</a:t>
            </a:r>
            <a:r>
              <a:rPr lang="en-IN" dirty="0"/>
              <a:t>);   </a:t>
            </a:r>
          </a:p>
          <a:p>
            <a:r>
              <a:rPr lang="en-IN" dirty="0"/>
              <a:t> </a:t>
            </a:r>
            <a:r>
              <a:rPr lang="en-IN" dirty="0" err="1"/>
              <a:t>Serial.println</a:t>
            </a:r>
            <a:r>
              <a:rPr lang="en-IN" dirty="0"/>
              <a:t>();</a:t>
            </a:r>
          </a:p>
          <a:p>
            <a:r>
              <a:rPr lang="en-IN" dirty="0"/>
              <a:t>if(tag&gt;0){      switch(tag){        case 1:     </a:t>
            </a:r>
            <a:r>
              <a:rPr lang="en-IN" dirty="0" err="1"/>
              <a:t>EEPROM.update</a:t>
            </a:r>
            <a:r>
              <a:rPr lang="en-IN" dirty="0"/>
              <a:t>(5, </a:t>
            </a:r>
            <a:r>
              <a:rPr lang="en-IN" dirty="0" err="1"/>
              <a:t>rfid.uid.uidByte</a:t>
            </a:r>
            <a:r>
              <a:rPr lang="en-IN" dirty="0"/>
              <a:t>[0] );    </a:t>
            </a:r>
            <a:r>
              <a:rPr lang="en-IN" dirty="0" err="1"/>
              <a:t>EEPROM.update</a:t>
            </a:r>
            <a:r>
              <a:rPr lang="en-IN" dirty="0"/>
              <a:t>(6, </a:t>
            </a:r>
            <a:r>
              <a:rPr lang="en-IN" dirty="0" err="1"/>
              <a:t>rfid.uid.uidByte</a:t>
            </a:r>
            <a:r>
              <a:rPr lang="en-IN" dirty="0"/>
              <a:t>[1] );    </a:t>
            </a:r>
            <a:r>
              <a:rPr lang="en-IN" dirty="0" err="1"/>
              <a:t>EEPROM.update</a:t>
            </a:r>
            <a:r>
              <a:rPr lang="en-IN" dirty="0"/>
              <a:t>(7, </a:t>
            </a:r>
            <a:r>
              <a:rPr lang="en-IN" dirty="0" err="1"/>
              <a:t>rfid.uid.uidByte</a:t>
            </a:r>
            <a:r>
              <a:rPr lang="en-IN" dirty="0"/>
              <a:t>[2] );    </a:t>
            </a:r>
            <a:r>
              <a:rPr lang="en-IN" dirty="0" err="1"/>
              <a:t>EEPROM.update</a:t>
            </a:r>
            <a:r>
              <a:rPr lang="en-IN" dirty="0"/>
              <a:t>(8, </a:t>
            </a:r>
            <a:r>
              <a:rPr lang="en-IN" dirty="0" err="1"/>
              <a:t>rfid.uid.uidByte</a:t>
            </a:r>
            <a:r>
              <a:rPr lang="en-IN" dirty="0"/>
              <a:t>[3] );    </a:t>
            </a:r>
          </a:p>
          <a:p>
            <a:r>
              <a:rPr lang="en-IN" dirty="0"/>
              <a:t>  break;      </a:t>
            </a:r>
          </a:p>
          <a:p>
            <a:r>
              <a:rPr lang="en-IN" dirty="0"/>
              <a:t> case 2:EEPROM.update(9, </a:t>
            </a:r>
            <a:r>
              <a:rPr lang="en-IN" dirty="0" err="1"/>
              <a:t>rfid.uid.uidByte</a:t>
            </a:r>
            <a:r>
              <a:rPr lang="en-IN" dirty="0"/>
              <a:t>[0] );    </a:t>
            </a:r>
            <a:r>
              <a:rPr lang="en-IN" dirty="0" err="1"/>
              <a:t>EEPROM.update</a:t>
            </a:r>
            <a:r>
              <a:rPr lang="en-IN" dirty="0"/>
              <a:t>(10, </a:t>
            </a:r>
            <a:r>
              <a:rPr lang="en-IN" dirty="0" err="1"/>
              <a:t>rfid.uid.uidByte</a:t>
            </a:r>
            <a:r>
              <a:rPr lang="en-IN" dirty="0"/>
              <a:t>[1] );    </a:t>
            </a:r>
            <a:r>
              <a:rPr lang="en-IN" dirty="0" err="1"/>
              <a:t>EEPROM.update</a:t>
            </a:r>
            <a:r>
              <a:rPr lang="en-IN" dirty="0"/>
              <a:t>(11, </a:t>
            </a:r>
            <a:r>
              <a:rPr lang="en-IN" dirty="0" err="1"/>
              <a:t>rfid.uid.uidByte</a:t>
            </a:r>
            <a:r>
              <a:rPr lang="en-IN" dirty="0"/>
              <a:t>[2] );    </a:t>
            </a:r>
            <a:r>
              <a:rPr lang="en-IN" dirty="0" err="1"/>
              <a:t>EEPROM.update</a:t>
            </a:r>
            <a:r>
              <a:rPr lang="en-IN" dirty="0"/>
              <a:t>(12, </a:t>
            </a:r>
            <a:r>
              <a:rPr lang="en-IN" dirty="0" err="1"/>
              <a:t>rfid.uid.uidByte</a:t>
            </a:r>
            <a:r>
              <a:rPr lang="en-IN" dirty="0"/>
              <a:t>[3] );    </a:t>
            </a:r>
          </a:p>
          <a:p>
            <a:r>
              <a:rPr lang="en-IN" dirty="0"/>
              <a:t>  break;      </a:t>
            </a:r>
          </a:p>
          <a:p>
            <a:r>
              <a:rPr lang="en-IN" dirty="0"/>
              <a:t> case 3: </a:t>
            </a:r>
            <a:r>
              <a:rPr lang="en-IN" dirty="0" err="1"/>
              <a:t>EEPROM.update</a:t>
            </a:r>
            <a:r>
              <a:rPr lang="en-IN" dirty="0"/>
              <a:t>(13, </a:t>
            </a:r>
            <a:r>
              <a:rPr lang="en-IN" dirty="0" err="1"/>
              <a:t>rfid.uid.uidByte</a:t>
            </a:r>
            <a:r>
              <a:rPr lang="en-IN" dirty="0"/>
              <a:t>[0] );    </a:t>
            </a:r>
            <a:r>
              <a:rPr lang="en-IN" dirty="0" err="1"/>
              <a:t>EEPROM.update</a:t>
            </a:r>
            <a:r>
              <a:rPr lang="en-IN" dirty="0"/>
              <a:t>(14, </a:t>
            </a:r>
            <a:r>
              <a:rPr lang="en-IN" dirty="0" err="1"/>
              <a:t>rfid.uid.uidByte</a:t>
            </a:r>
            <a:r>
              <a:rPr lang="en-IN" dirty="0"/>
              <a:t>[1] );    </a:t>
            </a:r>
            <a:r>
              <a:rPr lang="en-IN" dirty="0" err="1"/>
              <a:t>EEPROM.update</a:t>
            </a:r>
            <a:r>
              <a:rPr lang="en-IN" dirty="0"/>
              <a:t>(15, </a:t>
            </a:r>
            <a:r>
              <a:rPr lang="en-IN" dirty="0" err="1"/>
              <a:t>rfid.uid.uidByte</a:t>
            </a:r>
            <a:r>
              <a:rPr lang="en-IN" dirty="0"/>
              <a:t>[2] );    </a:t>
            </a:r>
            <a:r>
              <a:rPr lang="en-IN" dirty="0" err="1"/>
              <a:t>EEPROM.update</a:t>
            </a:r>
            <a:r>
              <a:rPr lang="en-IN" dirty="0"/>
              <a:t>(16, </a:t>
            </a:r>
            <a:r>
              <a:rPr lang="en-IN" dirty="0" err="1"/>
              <a:t>rfid.uid.uidByte</a:t>
            </a:r>
            <a:r>
              <a:rPr lang="en-IN" dirty="0"/>
              <a:t>[3] );   </a:t>
            </a:r>
          </a:p>
          <a:p>
            <a:r>
              <a:rPr lang="en-IN" dirty="0"/>
              <a:t> break;</a:t>
            </a:r>
          </a:p>
        </p:txBody>
      </p:sp>
    </p:spTree>
    <p:extLst>
      <p:ext uri="{BB962C8B-B14F-4D97-AF65-F5344CB8AC3E}">
        <p14:creationId xmlns:p14="http://schemas.microsoft.com/office/powerpoint/2010/main" val="1999098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E1AB4F-9A6C-DC3A-8C0A-BA2F8E56D6CF}"/>
              </a:ext>
            </a:extLst>
          </p:cNvPr>
          <p:cNvSpPr txBox="1"/>
          <p:nvPr/>
        </p:nvSpPr>
        <p:spPr>
          <a:xfrm>
            <a:off x="177282" y="177225"/>
            <a:ext cx="5918718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case 4: </a:t>
            </a:r>
            <a:r>
              <a:rPr lang="en-IN" dirty="0" err="1"/>
              <a:t>EEPROM.update</a:t>
            </a:r>
            <a:r>
              <a:rPr lang="en-IN" dirty="0"/>
              <a:t>(17, </a:t>
            </a:r>
            <a:r>
              <a:rPr lang="en-IN" dirty="0" err="1"/>
              <a:t>rfid.uid.uidByte</a:t>
            </a:r>
            <a:r>
              <a:rPr lang="en-IN" dirty="0"/>
              <a:t>[0] );    </a:t>
            </a:r>
            <a:r>
              <a:rPr lang="en-IN" dirty="0" err="1"/>
              <a:t>EEPROM.update</a:t>
            </a:r>
            <a:r>
              <a:rPr lang="en-IN" dirty="0"/>
              <a:t>(18, </a:t>
            </a:r>
            <a:r>
              <a:rPr lang="en-IN" dirty="0" err="1"/>
              <a:t>rfid.uid.uidByte</a:t>
            </a:r>
            <a:r>
              <a:rPr lang="en-IN" dirty="0"/>
              <a:t>[1] );    </a:t>
            </a:r>
            <a:r>
              <a:rPr lang="en-IN" dirty="0" err="1"/>
              <a:t>EEPROM.update</a:t>
            </a:r>
            <a:r>
              <a:rPr lang="en-IN" dirty="0"/>
              <a:t>(19, </a:t>
            </a:r>
            <a:r>
              <a:rPr lang="en-IN" dirty="0" err="1"/>
              <a:t>rfid.uid.uidByte</a:t>
            </a:r>
            <a:r>
              <a:rPr lang="en-IN" dirty="0"/>
              <a:t>[2] );    </a:t>
            </a:r>
            <a:r>
              <a:rPr lang="en-IN" dirty="0" err="1"/>
              <a:t>EEPROM.update</a:t>
            </a:r>
            <a:r>
              <a:rPr lang="en-IN" dirty="0"/>
              <a:t>(20, </a:t>
            </a:r>
            <a:r>
              <a:rPr lang="en-IN" dirty="0" err="1"/>
              <a:t>rfid.uid.uidByte</a:t>
            </a:r>
            <a:r>
              <a:rPr lang="en-IN" dirty="0"/>
              <a:t>[3] );    </a:t>
            </a:r>
          </a:p>
          <a:p>
            <a:r>
              <a:rPr lang="en-IN" dirty="0"/>
              <a:t>  break;       </a:t>
            </a:r>
          </a:p>
          <a:p>
            <a:r>
              <a:rPr lang="en-IN" dirty="0"/>
              <a:t>case 5: </a:t>
            </a:r>
            <a:r>
              <a:rPr lang="en-IN" dirty="0" err="1"/>
              <a:t>EEPROM.update</a:t>
            </a:r>
            <a:r>
              <a:rPr lang="en-IN" dirty="0"/>
              <a:t>(21, </a:t>
            </a:r>
            <a:r>
              <a:rPr lang="en-IN" dirty="0" err="1"/>
              <a:t>rfid.uid.uidByte</a:t>
            </a:r>
            <a:r>
              <a:rPr lang="en-IN" dirty="0"/>
              <a:t>[0] );    </a:t>
            </a:r>
            <a:r>
              <a:rPr lang="en-IN" dirty="0" err="1"/>
              <a:t>EEPROM.update</a:t>
            </a:r>
            <a:r>
              <a:rPr lang="en-IN" dirty="0"/>
              <a:t>(22, </a:t>
            </a:r>
            <a:r>
              <a:rPr lang="en-IN" dirty="0" err="1"/>
              <a:t>rfid.uid.uidByte</a:t>
            </a:r>
            <a:r>
              <a:rPr lang="en-IN" dirty="0"/>
              <a:t>[1] );    </a:t>
            </a:r>
            <a:r>
              <a:rPr lang="en-IN" dirty="0" err="1"/>
              <a:t>EEPROM.update</a:t>
            </a:r>
            <a:r>
              <a:rPr lang="en-IN" dirty="0"/>
              <a:t>(23, </a:t>
            </a:r>
            <a:r>
              <a:rPr lang="en-IN" dirty="0" err="1"/>
              <a:t>rfid.uid.uidByte</a:t>
            </a:r>
            <a:r>
              <a:rPr lang="en-IN" dirty="0"/>
              <a:t>[2] );    </a:t>
            </a:r>
            <a:r>
              <a:rPr lang="en-IN" dirty="0" err="1"/>
              <a:t>EEPROM.update</a:t>
            </a:r>
            <a:r>
              <a:rPr lang="en-IN" dirty="0"/>
              <a:t>(24, </a:t>
            </a:r>
            <a:r>
              <a:rPr lang="en-IN" dirty="0" err="1"/>
              <a:t>rfid.uid.uidByte</a:t>
            </a:r>
            <a:r>
              <a:rPr lang="en-IN" dirty="0"/>
              <a:t>[3] );     </a:t>
            </a:r>
          </a:p>
          <a:p>
            <a:r>
              <a:rPr lang="en-IN" dirty="0"/>
              <a:t> break;           }  tag=0;d10=d11=d12=d13=0;       </a:t>
            </a:r>
            <a:r>
              <a:rPr lang="en-IN" dirty="0" err="1"/>
              <a:t>lcd.setCursor</a:t>
            </a:r>
            <a:r>
              <a:rPr lang="en-IN" dirty="0"/>
              <a:t>(0, 1);   </a:t>
            </a:r>
          </a:p>
          <a:p>
            <a:r>
              <a:rPr lang="en-IN" dirty="0"/>
              <a:t> </a:t>
            </a:r>
            <a:r>
              <a:rPr lang="en-IN" dirty="0" err="1"/>
              <a:t>lcd.print</a:t>
            </a:r>
            <a:r>
              <a:rPr lang="en-IN" dirty="0"/>
              <a:t>("  TAG ID SAVED  "); delay(2000);   </a:t>
            </a:r>
          </a:p>
          <a:p>
            <a:r>
              <a:rPr lang="en-IN" dirty="0" err="1"/>
              <a:t>lcd.clear</a:t>
            </a:r>
            <a:r>
              <a:rPr lang="en-IN" dirty="0"/>
              <a:t>(); </a:t>
            </a:r>
          </a:p>
          <a:p>
            <a:r>
              <a:rPr lang="en-IN" dirty="0"/>
              <a:t> </a:t>
            </a:r>
            <a:r>
              <a:rPr lang="en-IN" dirty="0" err="1"/>
              <a:t>lcd.print</a:t>
            </a:r>
            <a:r>
              <a:rPr lang="en-IN" dirty="0"/>
              <a:t>("SCAN YOUR ID TAG"); </a:t>
            </a:r>
          </a:p>
          <a:p>
            <a:r>
              <a:rPr lang="en-IN" dirty="0"/>
              <a:t>cp=0;    c=0;    }</a:t>
            </a:r>
          </a:p>
          <a:p>
            <a:r>
              <a:rPr lang="en-IN" dirty="0"/>
              <a:t>else for (int </a:t>
            </a:r>
            <a:r>
              <a:rPr lang="en-IN" dirty="0" err="1"/>
              <a:t>i</a:t>
            </a:r>
            <a:r>
              <a:rPr lang="en-IN" dirty="0"/>
              <a:t> = 1; </a:t>
            </a:r>
            <a:r>
              <a:rPr lang="en-IN" dirty="0" err="1"/>
              <a:t>i</a:t>
            </a:r>
            <a:r>
              <a:rPr lang="en-IN" dirty="0"/>
              <a:t> &lt; 6; </a:t>
            </a:r>
            <a:r>
              <a:rPr lang="en-IN" dirty="0" err="1"/>
              <a:t>i</a:t>
            </a:r>
            <a:r>
              <a:rPr lang="en-IN" dirty="0"/>
              <a:t>++)</a:t>
            </a:r>
          </a:p>
          <a:p>
            <a:r>
              <a:rPr lang="en-IN" dirty="0"/>
              <a:t>{ if (</a:t>
            </a:r>
            <a:r>
              <a:rPr lang="en-IN" dirty="0" err="1"/>
              <a:t>rfid.uid.uidByte</a:t>
            </a:r>
            <a:r>
              <a:rPr lang="en-IN" dirty="0"/>
              <a:t>[0] == </a:t>
            </a:r>
            <a:r>
              <a:rPr lang="en-IN" dirty="0" err="1"/>
              <a:t>EEPROM.read</a:t>
            </a:r>
            <a:r>
              <a:rPr lang="en-IN" dirty="0"/>
              <a:t>((</a:t>
            </a:r>
            <a:r>
              <a:rPr lang="en-IN" dirty="0" err="1"/>
              <a:t>i</a:t>
            </a:r>
            <a:r>
              <a:rPr lang="en-IN" dirty="0"/>
              <a:t>*4)+1)&amp;    </a:t>
            </a:r>
            <a:r>
              <a:rPr lang="en-IN" dirty="0" err="1"/>
              <a:t>rfid.uid.uidByte</a:t>
            </a:r>
            <a:r>
              <a:rPr lang="en-IN" dirty="0"/>
              <a:t>[1] == </a:t>
            </a:r>
            <a:r>
              <a:rPr lang="en-IN" dirty="0" err="1"/>
              <a:t>EEPROM.read</a:t>
            </a:r>
            <a:r>
              <a:rPr lang="en-IN" dirty="0"/>
              <a:t>((</a:t>
            </a:r>
            <a:r>
              <a:rPr lang="en-IN" dirty="0" err="1"/>
              <a:t>i</a:t>
            </a:r>
            <a:r>
              <a:rPr lang="en-IN" dirty="0"/>
              <a:t>*4)+2) &amp;    </a:t>
            </a:r>
            <a:r>
              <a:rPr lang="en-IN" dirty="0" err="1"/>
              <a:t>rfid.uid.uidByte</a:t>
            </a:r>
            <a:r>
              <a:rPr lang="en-IN" dirty="0"/>
              <a:t>[2] == </a:t>
            </a:r>
            <a:r>
              <a:rPr lang="en-IN" dirty="0" err="1"/>
              <a:t>EEPROM.read</a:t>
            </a:r>
            <a:r>
              <a:rPr lang="en-IN" dirty="0"/>
              <a:t>((</a:t>
            </a:r>
            <a:r>
              <a:rPr lang="en-IN" dirty="0" err="1"/>
              <a:t>i</a:t>
            </a:r>
            <a:r>
              <a:rPr lang="en-IN" dirty="0"/>
              <a:t>*4)+3) &amp;     </a:t>
            </a:r>
            <a:r>
              <a:rPr lang="en-IN" dirty="0" err="1"/>
              <a:t>rfid.uid.uidByte</a:t>
            </a:r>
            <a:r>
              <a:rPr lang="en-IN" dirty="0"/>
              <a:t>[3] == </a:t>
            </a:r>
            <a:r>
              <a:rPr lang="en-IN" dirty="0" err="1"/>
              <a:t>EEPROM.read</a:t>
            </a:r>
            <a:r>
              <a:rPr lang="en-IN" dirty="0"/>
              <a:t>((</a:t>
            </a:r>
            <a:r>
              <a:rPr lang="en-IN" dirty="0" err="1"/>
              <a:t>i</a:t>
            </a:r>
            <a:r>
              <a:rPr lang="en-IN" dirty="0"/>
              <a:t>*4)+4) ) ok=1;} if(ok==1){      ok=0;    </a:t>
            </a:r>
            <a:r>
              <a:rPr lang="en-IN" dirty="0" err="1"/>
              <a:t>Serial.println</a:t>
            </a:r>
            <a:r>
              <a:rPr lang="en-IN" dirty="0"/>
              <a:t>(F("A new card has been detected."));  </a:t>
            </a:r>
            <a:r>
              <a:rPr lang="en-IN" dirty="0" err="1"/>
              <a:t>lcd.setCursor</a:t>
            </a:r>
            <a:r>
              <a:rPr lang="en-IN" dirty="0"/>
              <a:t>(0, 1);  </a:t>
            </a:r>
            <a:r>
              <a:rPr lang="en-IN" dirty="0" err="1"/>
              <a:t>lcd.print</a:t>
            </a:r>
            <a:r>
              <a:rPr lang="en-IN" dirty="0"/>
              <a:t>("ID TAG ACCEPTED ");</a:t>
            </a:r>
            <a:r>
              <a:rPr lang="en-IN" dirty="0" err="1"/>
              <a:t>digitalWrite</a:t>
            </a:r>
            <a:r>
              <a:rPr lang="en-IN" dirty="0"/>
              <a:t>(14,HIGH);</a:t>
            </a:r>
          </a:p>
          <a:p>
            <a:r>
              <a:rPr lang="en-IN" dirty="0"/>
              <a:t>delay(3000);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E7FF5F-4EED-C295-48D2-78E314B24414}"/>
              </a:ext>
            </a:extLst>
          </p:cNvPr>
          <p:cNvSpPr txBox="1"/>
          <p:nvPr/>
        </p:nvSpPr>
        <p:spPr>
          <a:xfrm>
            <a:off x="6096000" y="177225"/>
            <a:ext cx="591871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dirty="0" err="1"/>
              <a:t>lcd.setCursor</a:t>
            </a:r>
            <a:r>
              <a:rPr lang="en-IN" dirty="0"/>
              <a:t>(0, 1);  </a:t>
            </a:r>
          </a:p>
          <a:p>
            <a:r>
              <a:rPr lang="en-IN" dirty="0"/>
              <a:t> </a:t>
            </a:r>
            <a:r>
              <a:rPr lang="en-IN" dirty="0" err="1"/>
              <a:t>lcd.print</a:t>
            </a:r>
            <a:r>
              <a:rPr lang="en-IN" dirty="0"/>
              <a:t>("                "); </a:t>
            </a:r>
          </a:p>
          <a:p>
            <a:r>
              <a:rPr lang="en-IN" dirty="0" err="1"/>
              <a:t>digitalWrite</a:t>
            </a:r>
            <a:r>
              <a:rPr lang="en-IN" dirty="0"/>
              <a:t>(14,LOW);   </a:t>
            </a:r>
          </a:p>
          <a:p>
            <a:r>
              <a:rPr lang="en-IN" dirty="0"/>
              <a:t>return;  }</a:t>
            </a:r>
          </a:p>
          <a:p>
            <a:r>
              <a:rPr lang="en-IN" dirty="0"/>
              <a:t>else {    </a:t>
            </a:r>
            <a:r>
              <a:rPr lang="en-IN" dirty="0" err="1"/>
              <a:t>lcd.setCursor</a:t>
            </a:r>
            <a:r>
              <a:rPr lang="en-IN" dirty="0"/>
              <a:t>(0, 1);     </a:t>
            </a:r>
            <a:r>
              <a:rPr lang="en-IN" dirty="0" err="1"/>
              <a:t>lcd.print</a:t>
            </a:r>
            <a:r>
              <a:rPr lang="en-IN" dirty="0"/>
              <a:t>(" ACCESS DENIED "); </a:t>
            </a:r>
          </a:p>
          <a:p>
            <a:r>
              <a:rPr lang="en-IN" dirty="0"/>
              <a:t> delay(2000);  </a:t>
            </a:r>
          </a:p>
          <a:p>
            <a:r>
              <a:rPr lang="en-IN" dirty="0"/>
              <a:t> </a:t>
            </a:r>
            <a:r>
              <a:rPr lang="en-IN" dirty="0" err="1"/>
              <a:t>lcd.setCursor</a:t>
            </a:r>
            <a:r>
              <a:rPr lang="en-IN" dirty="0"/>
              <a:t>(0, 1); </a:t>
            </a:r>
          </a:p>
          <a:p>
            <a:r>
              <a:rPr lang="en-IN" dirty="0"/>
              <a:t>  </a:t>
            </a:r>
            <a:r>
              <a:rPr lang="en-IN" dirty="0" err="1"/>
              <a:t>lcd.print</a:t>
            </a:r>
            <a:r>
              <a:rPr lang="en-IN" dirty="0"/>
              <a:t>("                ");    }     </a:t>
            </a:r>
          </a:p>
          <a:p>
            <a:r>
              <a:rPr lang="en-IN" dirty="0"/>
              <a:t> // Halt PICC  </a:t>
            </a:r>
            <a:r>
              <a:rPr lang="en-IN" dirty="0" err="1"/>
              <a:t>rfid.PICC_HaltA</a:t>
            </a:r>
            <a:r>
              <a:rPr lang="en-IN" dirty="0"/>
              <a:t>();  </a:t>
            </a:r>
          </a:p>
          <a:p>
            <a:r>
              <a:rPr lang="en-IN" dirty="0"/>
              <a:t>// Stop encryption on PCD  </a:t>
            </a:r>
          </a:p>
          <a:p>
            <a:r>
              <a:rPr lang="en-IN" dirty="0"/>
              <a:t>rfid.PCD_StopCrypto1();  }</a:t>
            </a:r>
          </a:p>
          <a:p>
            <a:r>
              <a:rPr lang="en-IN" dirty="0"/>
              <a:t>//------------------loop end function start---------------------void </a:t>
            </a:r>
            <a:r>
              <a:rPr lang="en-IN" dirty="0" err="1"/>
              <a:t>printDec</a:t>
            </a:r>
            <a:r>
              <a:rPr lang="en-IN" dirty="0"/>
              <a:t>(byte *buffer, byte </a:t>
            </a:r>
            <a:r>
              <a:rPr lang="en-IN" dirty="0" err="1"/>
              <a:t>bufferSize</a:t>
            </a:r>
            <a:r>
              <a:rPr lang="en-IN" dirty="0"/>
              <a:t>) </a:t>
            </a:r>
          </a:p>
          <a:p>
            <a:r>
              <a:rPr lang="en-IN" dirty="0"/>
              <a:t>{  for (byte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</a:t>
            </a:r>
            <a:r>
              <a:rPr lang="en-IN" dirty="0" err="1"/>
              <a:t>bufferSize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++) </a:t>
            </a:r>
          </a:p>
          <a:p>
            <a:r>
              <a:rPr lang="en-IN" dirty="0"/>
              <a:t>{    </a:t>
            </a:r>
            <a:r>
              <a:rPr lang="en-IN" dirty="0" err="1"/>
              <a:t>Serial.print</a:t>
            </a:r>
            <a:r>
              <a:rPr lang="en-IN" dirty="0"/>
              <a:t>(buffer[</a:t>
            </a:r>
            <a:r>
              <a:rPr lang="en-IN" dirty="0" err="1"/>
              <a:t>i</a:t>
            </a:r>
            <a:r>
              <a:rPr lang="en-IN" dirty="0"/>
              <a:t>] &lt; 0x10 ? " 0" : " ");    </a:t>
            </a:r>
            <a:r>
              <a:rPr lang="en-IN" dirty="0" err="1"/>
              <a:t>Serial.print</a:t>
            </a:r>
            <a:r>
              <a:rPr lang="en-IN" dirty="0"/>
              <a:t>(buffer[</a:t>
            </a:r>
            <a:r>
              <a:rPr lang="en-IN" dirty="0" err="1"/>
              <a:t>i</a:t>
            </a:r>
            <a:r>
              <a:rPr lang="en-IN" dirty="0"/>
              <a:t>], DEC);  }}</a:t>
            </a:r>
          </a:p>
          <a:p>
            <a:endParaRPr lang="en-IN" dirty="0"/>
          </a:p>
          <a:p>
            <a:r>
              <a:rPr lang="en-IN" dirty="0"/>
              <a:t>---------------------------------------------------------------------------</a:t>
            </a:r>
          </a:p>
        </p:txBody>
      </p:sp>
    </p:spTree>
    <p:extLst>
      <p:ext uri="{BB962C8B-B14F-4D97-AF65-F5344CB8AC3E}">
        <p14:creationId xmlns:p14="http://schemas.microsoft.com/office/powerpoint/2010/main" val="3844344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A298F-C578-F83F-B997-5AADB44418E6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77320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Code Uploading Steps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EA33D7-C11B-2BA2-87C2-CCA52570205F}"/>
              </a:ext>
            </a:extLst>
          </p:cNvPr>
          <p:cNvSpPr txBox="1"/>
          <p:nvPr/>
        </p:nvSpPr>
        <p:spPr>
          <a:xfrm>
            <a:off x="2369975" y="1145718"/>
            <a:ext cx="793102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ea typeface="+mn-lt"/>
                <a:cs typeface="+mn-lt"/>
              </a:rPr>
              <a:t>Step 1 − First you must have your Arduino board and USB Cable</a:t>
            </a:r>
            <a:endParaRPr lang="en-US" sz="2800" dirty="0">
              <a:latin typeface="+mn-lt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ea typeface="+mn-lt"/>
                <a:cs typeface="+mn-lt"/>
              </a:rPr>
              <a:t>Step 2 − Download Arduino IDE Software.</a:t>
            </a:r>
            <a:endParaRPr lang="en-US" sz="2800" dirty="0">
              <a:latin typeface="+mn-lt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ea typeface="+mn-lt"/>
                <a:cs typeface="+mn-lt"/>
              </a:rPr>
              <a:t>Step 3 − Power up your board.</a:t>
            </a:r>
            <a:endParaRPr lang="en-US" sz="2800" dirty="0">
              <a:latin typeface="+mn-lt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ea typeface="+mn-lt"/>
                <a:cs typeface="+mn-lt"/>
              </a:rPr>
              <a:t>Step 4 − Launch Arduino IDE.</a:t>
            </a:r>
            <a:endParaRPr lang="en-US" sz="2800" dirty="0">
              <a:latin typeface="+mn-lt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ea typeface="+mn-lt"/>
                <a:cs typeface="+mn-lt"/>
              </a:rPr>
              <a:t>Step 5 − Open your first project.</a:t>
            </a:r>
            <a:endParaRPr lang="en-US" sz="2800" dirty="0">
              <a:latin typeface="+mn-lt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ea typeface="+mn-lt"/>
                <a:cs typeface="+mn-lt"/>
              </a:rPr>
              <a:t>Step 6 − Select your Arduino board.</a:t>
            </a:r>
            <a:endParaRPr lang="en-US" sz="2800" dirty="0">
              <a:latin typeface="+mn-lt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ea typeface="+mn-lt"/>
                <a:cs typeface="+mn-lt"/>
              </a:rPr>
              <a:t>Step 7 − Select your serial port.</a:t>
            </a:r>
            <a:endParaRPr lang="en-US" sz="2800" dirty="0">
              <a:latin typeface="+mn-lt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ea typeface="+mn-lt"/>
                <a:cs typeface="+mn-lt"/>
              </a:rPr>
              <a:t>Step 8 − Upload the program to your board</a:t>
            </a:r>
            <a:endParaRPr lang="en-US" sz="2800" dirty="0">
              <a:latin typeface="+mn-lt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  <a:ea typeface="+mn-lt"/>
                <a:cs typeface="+mn-lt"/>
              </a:rPr>
              <a:t>Step 9 − Great</a:t>
            </a:r>
            <a:endParaRPr lang="en-US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66763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D6956-FF92-8A83-5100-5100E11BDACE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77320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</a:rPr>
              <a:t>Advantages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EB9996-C331-91F1-BBAD-CB0F0911F011}"/>
              </a:ext>
            </a:extLst>
          </p:cNvPr>
          <p:cNvSpPr txBox="1"/>
          <p:nvPr/>
        </p:nvSpPr>
        <p:spPr>
          <a:xfrm>
            <a:off x="1240971" y="1184988"/>
            <a:ext cx="8733453" cy="3268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Lock and unlock your door from your phone.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 Assign individual passcodes.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 Know who's coming in and out.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 No more hideaway keys.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 Enhanced security.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 Smart home automation.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 Integrates with other smart devices.</a:t>
            </a:r>
          </a:p>
        </p:txBody>
      </p:sp>
    </p:spTree>
    <p:extLst>
      <p:ext uri="{BB962C8B-B14F-4D97-AF65-F5344CB8AC3E}">
        <p14:creationId xmlns:p14="http://schemas.microsoft.com/office/powerpoint/2010/main" val="1835132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BB19-9C60-4EA3-A7DA-B8D8BC90FC57}"/>
              </a:ext>
            </a:extLst>
          </p:cNvPr>
          <p:cNvSpPr txBox="1">
            <a:spLocks/>
          </p:cNvSpPr>
          <p:nvPr/>
        </p:nvSpPr>
        <p:spPr>
          <a:xfrm>
            <a:off x="657808" y="110735"/>
            <a:ext cx="10515600" cy="77320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</a:rPr>
              <a:t>Disadvantages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F5F6C4-21B8-57F7-5091-D77DE61B9B9A}"/>
              </a:ext>
            </a:extLst>
          </p:cNvPr>
          <p:cNvSpPr txBox="1"/>
          <p:nvPr/>
        </p:nvSpPr>
        <p:spPr>
          <a:xfrm>
            <a:off x="1212980" y="1324947"/>
            <a:ext cx="9405257" cy="408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 High-Cost. Generally electronic door lock costs are higher                           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latin typeface="Times New Roman"/>
                <a:cs typeface="Times New Roman"/>
              </a:rPr>
              <a:t>    than the traditional door locks....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 High Installation Effort. ...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 Jamming and Hacking. ...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 Power Failure. ...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 Same Access Code. ...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 Forgetting Your Password. ...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Non-Recognition.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9990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E8FD4-DC23-36C0-B419-6A46F34625EB}"/>
              </a:ext>
            </a:extLst>
          </p:cNvPr>
          <p:cNvSpPr txBox="1">
            <a:spLocks/>
          </p:cNvSpPr>
          <p:nvPr/>
        </p:nvSpPr>
        <p:spPr>
          <a:xfrm>
            <a:off x="657808" y="110735"/>
            <a:ext cx="10515600" cy="77320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</a:rPr>
              <a:t>Prototype Real Life  Applications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3A92C-1EF3-2619-AE8B-60E57F7164CB}"/>
              </a:ext>
            </a:extLst>
          </p:cNvPr>
          <p:cNvSpPr txBox="1"/>
          <p:nvPr/>
        </p:nvSpPr>
        <p:spPr>
          <a:xfrm>
            <a:off x="2190361" y="1542269"/>
            <a:ext cx="7756072" cy="334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Burglary is the common threat for all home owners. Any unwelcome guest can easily break into your home, no matter how strong your lock is.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Times New Roman"/>
              <a:cs typeface="Times New Roman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But a smart locking system is the hard nut to crack for them, since it is without any keys. Their mechanism is based on the security protocols deployed in bank system.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1895410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175AF-1550-1828-7045-476F0A628913}"/>
              </a:ext>
            </a:extLst>
          </p:cNvPr>
          <p:cNvSpPr txBox="1">
            <a:spLocks/>
          </p:cNvSpPr>
          <p:nvPr/>
        </p:nvSpPr>
        <p:spPr>
          <a:xfrm>
            <a:off x="657808" y="110735"/>
            <a:ext cx="10515600" cy="77320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</a:rPr>
              <a:t>Prototype Conclusion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5F8B14-95A7-5BA3-F1AA-ED03313080A0}"/>
              </a:ext>
            </a:extLst>
          </p:cNvPr>
          <p:cNvSpPr txBox="1"/>
          <p:nvPr/>
        </p:nvSpPr>
        <p:spPr>
          <a:xfrm>
            <a:off x="2041070" y="1342976"/>
            <a:ext cx="8138627" cy="3268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In this project, We are making a Smart Door lock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latin typeface="Times New Roman"/>
                <a:cs typeface="Times New Roman"/>
              </a:rPr>
              <a:t>   system which has Keypad lock and RFID Lock…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This Smart Door locks provide additional security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latin typeface="Times New Roman"/>
                <a:cs typeface="Times New Roman"/>
              </a:rPr>
              <a:t>   as compared to the normal locks…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This locks can only be opened by the persons who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latin typeface="Times New Roman"/>
                <a:cs typeface="Times New Roman"/>
              </a:rPr>
              <a:t>   has already registered their id’s or know the passcode,    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 dirty="0">
                <a:latin typeface="Times New Roman"/>
                <a:cs typeface="Times New Roman"/>
              </a:rPr>
              <a:t>   so high security is there…</a:t>
            </a:r>
          </a:p>
        </p:txBody>
      </p:sp>
    </p:spTree>
    <p:extLst>
      <p:ext uri="{BB962C8B-B14F-4D97-AF65-F5344CB8AC3E}">
        <p14:creationId xmlns:p14="http://schemas.microsoft.com/office/powerpoint/2010/main" val="34991019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61DF8-DE23-8B5A-EFF3-9C03B4BB1233}"/>
              </a:ext>
            </a:extLst>
          </p:cNvPr>
          <p:cNvSpPr txBox="1">
            <a:spLocks/>
          </p:cNvSpPr>
          <p:nvPr/>
        </p:nvSpPr>
        <p:spPr>
          <a:xfrm>
            <a:off x="657808" y="110735"/>
            <a:ext cx="10515600" cy="77320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</a:rPr>
              <a:t>Prototype Future Enhancements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853696-74A6-E149-0EDD-DE5FC81ED431}"/>
              </a:ext>
            </a:extLst>
          </p:cNvPr>
          <p:cNvSpPr txBox="1"/>
          <p:nvPr/>
        </p:nvSpPr>
        <p:spPr>
          <a:xfrm>
            <a:off x="2500604" y="1670180"/>
            <a:ext cx="593426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In future, we can give this lock an upgrade by adding fingerprint lock and face lock.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We can provide smarter access if we can combine it with 5g technology which will eventually provide increased security.</a:t>
            </a:r>
            <a:endParaRPr lang="en-IN" sz="2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01178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D8701-2E48-2FD5-AE44-E0CA706EE282}"/>
              </a:ext>
            </a:extLst>
          </p:cNvPr>
          <p:cNvSpPr txBox="1">
            <a:spLocks/>
          </p:cNvSpPr>
          <p:nvPr/>
        </p:nvSpPr>
        <p:spPr>
          <a:xfrm>
            <a:off x="657808" y="110735"/>
            <a:ext cx="10515600" cy="773209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algn="ctr"/>
            <a:r>
              <a:rPr lang="en-US" dirty="0">
                <a:latin typeface="Times New Roman" panose="02020603050405020304" pitchFamily="18" charset="0"/>
              </a:rPr>
              <a:t>Prototype References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86D2F-CDE2-0752-8895-466D32D0E196}"/>
              </a:ext>
            </a:extLst>
          </p:cNvPr>
          <p:cNvSpPr txBox="1"/>
          <p:nvPr/>
        </p:nvSpPr>
        <p:spPr>
          <a:xfrm>
            <a:off x="2740868" y="1434377"/>
            <a:ext cx="6319156" cy="94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https://www.electroniclinic.com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/>
                <a:cs typeface="Times New Roman"/>
              </a:rPr>
              <a:t>https://circuitdigest.com/</a:t>
            </a:r>
          </a:p>
        </p:txBody>
      </p:sp>
    </p:spTree>
    <p:extLst>
      <p:ext uri="{BB962C8B-B14F-4D97-AF65-F5344CB8AC3E}">
        <p14:creationId xmlns:p14="http://schemas.microsoft.com/office/powerpoint/2010/main" val="364411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8AE655-B701-0C1B-C1EB-5C781333D000}"/>
              </a:ext>
            </a:extLst>
          </p:cNvPr>
          <p:cNvSpPr txBox="1"/>
          <p:nvPr/>
        </p:nvSpPr>
        <p:spPr>
          <a:xfrm>
            <a:off x="6627984" y="3237642"/>
            <a:ext cx="4805996" cy="129711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+mj-ea"/>
                <a:cs typeface="Times New Roman"/>
              </a:rPr>
              <a:t>Thank You</a:t>
            </a:r>
            <a:endParaRPr lang="en-US" sz="5600" kern="1200" dirty="0">
              <a:solidFill>
                <a:schemeClr val="tx1">
                  <a:lumMod val="85000"/>
                  <a:lumOff val="15000"/>
                </a:schemeClr>
              </a:solidFill>
              <a:latin typeface="Times New Roman"/>
              <a:ea typeface="+mj-ea"/>
              <a:cs typeface="Times New Roman"/>
            </a:endParaRP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7AB80FD7-DB67-6980-2554-BAC34D118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8875002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</TotalTime>
  <Words>2499</Words>
  <Application>Microsoft Office PowerPoint</Application>
  <PresentationFormat>Widescreen</PresentationFormat>
  <Paragraphs>308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krunal bhoraniya</dc:creator>
  <cp:lastModifiedBy>nikhil.gounder03@outlook.com</cp:lastModifiedBy>
  <cp:revision>48</cp:revision>
  <dcterms:created xsi:type="dcterms:W3CDTF">2022-02-04T08:56:24Z</dcterms:created>
  <dcterms:modified xsi:type="dcterms:W3CDTF">2024-04-12T04:15:28Z</dcterms:modified>
</cp:coreProperties>
</file>